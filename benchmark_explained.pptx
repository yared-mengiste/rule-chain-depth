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explains the implemented benchmark, rather than presenting model-performance claims.</a:t>
            </a:r>
          </a:p>
          <a:p>
            <a:r>
              <a:t>The task is deliberately small and controlled: infer whether a claim follows from the facts and rules in</a:t>
            </a:r>
          </a:p>
          <a:p>
            <a:r>
              <a:t>one world. We compare three systems on identical questions and use an independent symbolic oracle to</a:t>
            </a:r>
          </a:p>
          <a:p>
            <a:r>
              <a:t>establish the expected answers and exact proof depths. The main narrative takes about 20 minutes;</a:t>
            </a:r>
          </a:p>
          <a:p>
            <a:r>
              <a:t>the last three slides provide commands, the full running-example world, and reference fields.</a:t>
            </a:r>
          </a:p>
          <a:p/>
          <a:p>
            <a:r>
              <a:t>Sources in the project:</a:t>
            </a:r>
          </a:p>
          <a:p>
            <a:r>
              <a:t>- README.md</a:t>
            </a:r>
          </a:p>
          <a:p>
            <a:r>
              <a:t>- RUNNING.md</a:t>
            </a:r>
          </a:p>
          <a:p>
            <a:r>
              <a:t>- data/benchmark/worlds.json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system receives the same question about the same world. The world is the complete evidence</a:t>
            </a:r>
          </a:p>
          <a:p>
            <a:r>
              <a:t>boundary, so outside factual knowledge should not be needed. The three systems use that evidence</a:t>
            </a:r>
          </a:p>
          <a:p>
            <a:r>
              <a:t>differently: a conventional top-four retrieval baseline, an LLM given all twelve sentences, and the</a:t>
            </a:r>
          </a:p>
          <a:p>
            <a:r>
              <a:t>PLN-RAG parsing/retrieval/reasoning pipeline. The shared runner compares labels and records diagnostic</a:t>
            </a:r>
          </a:p>
          <a:p>
            <a:r>
              <a:t>information after answering. This is a pipeline comparison with matched model configuration; it is not</a:t>
            </a:r>
          </a:p>
          <a:p>
            <a:r>
              <a:t>a claim that the systems use identical prompts, numbers of model calls, or information-processing steps.</a:t>
            </a:r>
          </a:p>
          <a:p/>
          <a:p>
            <a:r>
              <a:t>Sources in the project:</a:t>
            </a:r>
          </a:p>
          <a:p>
            <a:r>
              <a:t>- b1/comparison.py</a:t>
            </a:r>
          </a:p>
          <a:p>
            <a:r>
              <a:t>- b1/baseline.py</a:t>
            </a:r>
          </a:p>
          <a:p>
            <a:r>
              <a:t>- ../normal-rag/normal_rag/core.py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frozen full benchmark contains twenty worlds, two questions per world, and twelve sentence entries</a:t>
            </a:r>
          </a:p>
          <a:p>
            <a:r>
              <a:t>per world. Across worlds there are 150 fact entries and 90 rule entries. These are counts of entries, not</a:t>
            </a:r>
          </a:p>
          <a:p>
            <a:r>
              <a:t>counts of unique natural-language sentences. Each depth bucket has five supported targets and five</a:t>
            </a:r>
          </a:p>
          <a:p>
            <a:r>
              <a:t>controls. A full three-system comparison produces 120 records. Depths are interleaved in the world</a:t>
            </a:r>
          </a:p>
          <a:p>
            <a:r>
              <a:t>ordering, so the first four worlds cover buckets 0, 1, 2, and 3. The smaller shared pilot is a different</a:t>
            </a:r>
          </a:p>
          <a:p>
            <a:r>
              <a:t>eight-world, sixteen-question dataset. The normal-rag standalone pilot has only three questions.</a:t>
            </a:r>
          </a:p>
          <a:p/>
          <a:p>
            <a:r>
              <a:t>Sources in the project:</a:t>
            </a:r>
          </a:p>
          <a:p>
            <a:r>
              <a:t>- b1/dataset.py:full_dataset</a:t>
            </a:r>
          </a:p>
          <a:p>
            <a:r>
              <a:t>- b1/dataset.py:validate_full</a:t>
            </a:r>
          </a:p>
          <a:p>
            <a:r>
              <a:t>- RUNNING.md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top four highlighted sentences as the proof for Meron's claim. S08 supplies the starting fact;</a:t>
            </a:r>
          </a:p>
          <a:p>
            <a:r>
              <a:t>S03, S01, and S07 successively derive checking a label, packing a crate, and sealing a crate. Selam has</a:t>
            </a:r>
          </a:p>
          <a:p>
            <a:r>
              <a:t>a fact about painting a gate and can therefore clean a bench, but that path never reaches sealing a</a:t>
            </a:r>
          </a:p>
          <a:p>
            <a:r>
              <a:t>crate. All highlighted text and sentence IDs are copied from bench-04. The real input has twelve</a:t>
            </a:r>
          </a:p>
          <a:p>
            <a:r>
              <a:t>sentences in a shuffled order, not this explanatory proof order. Highlighting and expected labels are</a:t>
            </a:r>
          </a:p>
          <a:p>
            <a:r>
              <a:t>presentation annotations and are not supplied to a model. The full world is in the reference slides.</a:t>
            </a:r>
          </a:p>
          <a:p/>
          <a:p>
            <a:r>
              <a:t>Sources in the project:</a:t>
            </a:r>
          </a:p>
          <a:p>
            <a:r>
              <a:t>- data/benchmark/worlds.json:bench-04</a:t>
            </a:r>
          </a:p>
          <a:p>
            <a:r>
              <a:t>- data/benchmark/hand_expected.json:bench-04-supported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fact is a ground atom: it contains named constants rather than variables. A rule is an implication</a:t>
            </a:r>
          </a:p>
          <a:p>
            <a:r>
              <a:t>from one or two premises to a head atom. Predicates are unary or binary. The code writes variables with</a:t>
            </a:r>
          </a:p>
          <a:p>
            <a:r>
              <a:t>a question-mark prefix, such as ?x; this presentation uses x for readability. Every variable in a rule</a:t>
            </a:r>
          </a:p>
          <a:p>
            <a:r>
              <a:t>head must also occur in a premise, which prevents inventing unbound entities. Facts, questions, and</a:t>
            </a:r>
          </a:p>
          <a:p>
            <a:r>
              <a:t>English templates are stored alongside the symbolic representation. There is no explicit negation,</a:t>
            </a:r>
          </a:p>
          <a:p>
            <a:r>
              <a:t>uncertainty weight, or function symbol in the oracle's task language. The rule is directional: a derived</a:t>
            </a:r>
          </a:p>
          <a:p>
            <a:r>
              <a:t>conclusion does not license reasoning backwards to assert its premise.</a:t>
            </a:r>
          </a:p>
          <a:p/>
          <a:p>
            <a:r>
              <a:t>Sources in the project:</a:t>
            </a:r>
          </a:p>
          <a:p>
            <a:r>
              <a:t>- b1/model.py:Atom</a:t>
            </a:r>
          </a:p>
          <a:p>
            <a:r>
              <a:t>- b1/model.py:Sentence</a:t>
            </a:r>
          </a:p>
          <a:p>
            <a:r>
              <a:t>- b1/language.py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five fact worlds, six chain worlds, three conjunction worlds, three relational worlds, and</a:t>
            </a:r>
          </a:p>
          <a:p>
            <a:r>
              <a:t>three mixed worlds. The five authoring families each contribute a depth-zero fact world; at higher</a:t>
            </a:r>
          </a:p>
          <a:p>
            <a:r>
              <a:t>depths, two families supply chains and the other three supply conjunction, relational, and mixed</a:t>
            </a:r>
          </a:p>
          <a:p>
            <a:r>
              <a:t>proofs. Consequently, type and depth are not an independently balanced factorial design. In relational</a:t>
            </a:r>
          </a:p>
          <a:p>
            <a:r>
              <a:t>worlds, higher depths add relation-to-relation rules after the join. In mixed worlds, the defining step</a:t>
            </a:r>
          </a:p>
          <a:p>
            <a:r>
              <a:t>turns a relation into a unary capability; the depth-one mixed case uses that step directly. Every world</a:t>
            </a:r>
          </a:p>
          <a:p>
            <a:r>
              <a:t>also has distractors, so this label summarizes the target proof rather than every rule in the world.</a:t>
            </a:r>
          </a:p>
          <a:p/>
          <a:p>
            <a:r>
              <a:t>Sources in the project:</a:t>
            </a:r>
          </a:p>
          <a:p>
            <a:r>
              <a:t>- b1/dataset.py:full_dataset</a:t>
            </a:r>
          </a:p>
          <a:p>
            <a:r>
              <a:t>- data/benchmark/worlds.json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S08 establishes sort_parcel(Meron) at depth zero. Applying S03 gives check_label(Meron) at depth one;</a:t>
            </a:r>
          </a:p>
          <a:p>
            <a:r>
              <a:t>S01 gives pack_crate(Meron) at depth two; S07 gives seal_crate(Meron) at depth three. The oracle</a:t>
            </a:r>
          </a:p>
          <a:p>
            <a:r>
              <a:t>reports the minimum depth over every valid proof, so an accidental shortcut would reduce the measured</a:t>
            </a:r>
          </a:p>
          <a:p>
            <a:r>
              <a:t>depth and fail dataset validation. The proof source set includes both the starting fact and the rules.</a:t>
            </a:r>
          </a:p>
          <a:p>
            <a:r>
              <a:t>This is why three rule applications correspond to four supporting sentences in this example.</a:t>
            </a:r>
          </a:p>
          <a:p/>
          <a:p>
            <a:r>
              <a:t>Sources in the project:</a:t>
            </a:r>
          </a:p>
          <a:p>
            <a:r>
              <a:t>- data/benchmark/worlds.json:bench-04</a:t>
            </a:r>
          </a:p>
          <a:p>
            <a:r>
              <a:t>- data/benchmark/hand_expected.json:bench-04-supported</a:t>
            </a:r>
          </a:p>
          <a:p>
            <a:r>
              <a:t>- b1/oracle.py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facts must bind the variable to the same person. Almaz can sort a parcel and weave a mat, so</a:t>
            </a:r>
          </a:p>
          <a:p>
            <a:r>
              <a:t>the conjunction rule S11 derives the target in one rule application. Both premise depths are zero,</a:t>
            </a:r>
          </a:p>
          <a:p>
            <a:r>
              <a:t>therefore the conclusion depth is 1 + max(0, 0) = 1. The paired control asks about Tigist. Tigist can</a:t>
            </a:r>
          </a:p>
          <a:p>
            <a:r>
              <a:t>sort a parcel but lacks the weaving fact, so the claim is not established. Having Almaz's weaving fact</a:t>
            </a:r>
          </a:p>
          <a:p>
            <a:r>
              <a:t>elsewhere in the same world must not be incorrectly joined with Tigist's sorting fact.</a:t>
            </a:r>
          </a:p>
          <a:p/>
          <a:p>
            <a:r>
              <a:t>Sources in the project:</a:t>
            </a:r>
          </a:p>
          <a:p>
            <a:r>
              <a:t>- data/benchmark/worlds.json:bench-10</a:t>
            </a:r>
          </a:p>
          <a:p>
            <a:r>
              <a:t>- b1/forward.py</a:t>
            </a:r>
          </a:p>
          <a:p>
            <a:r>
              <a:t>- b1/backward.py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S06 says Genet can mentor Bekele. S05 says Bekele can mentor Abebe. S09 joins them by assigning</a:t>
            </a:r>
          </a:p>
          <a:p>
            <a:r>
              <a:t>x=Genet, y=Bekele, and z=Abebe, establishing train(Genet, Abebe). The repeated y is the join key; it</a:t>
            </a:r>
          </a:p>
          <a:p>
            <a:r>
              <a:t>must name the same middle person. Although the diagram has two mentor edges, both are given facts.</a:t>
            </a:r>
          </a:p>
          <a:p>
            <a:r>
              <a:t>The train conclusion uses only one rule application, giving proof depth one. The control replaces the</a:t>
            </a:r>
          </a:p>
          <a:p>
            <a:r>
              <a:t>endpoint with Aster and remains unsupported until mentor(Bekele, Aster) is added in the oracle's repair</a:t>
            </a:r>
          </a:p>
          <a:p>
            <a:r>
              <a:t>check. This example distinguishes graph distance from the benchmark's proof-depth definition.</a:t>
            </a:r>
          </a:p>
          <a:p/>
          <a:p>
            <a:r>
              <a:t>Sources in the project:</a:t>
            </a:r>
          </a:p>
          <a:p>
            <a:r>
              <a:t>- data/benchmark/worlds.json:bench-14</a:t>
            </a:r>
          </a:p>
          <a:p>
            <a:r>
              <a:t>- b1/dataset.py</a:t>
            </a:r>
          </a:p>
          <a:p>
            <a:r>
              <a:t>- b1/model.py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node captions abbreviate the original English facts 'Meron can mentor Dawit' and 'Dawit can mentor</a:t>
            </a:r>
          </a:p>
          <a:p>
            <a:r>
              <a:t>Rahel'. Their join, through S03, establishes that Meron can train Rahel at depth one. S06 says everyone</a:t>
            </a:r>
          </a:p>
          <a:p>
            <a:r>
              <a:t>who can train another person can lead a team, which projects the binary relation into a unary</a:t>
            </a:r>
          </a:p>
          <a:p>
            <a:r>
              <a:t>capability at depth two. The source set contains two facts and two rules. This Meron world is isolated</a:t>
            </a:r>
          </a:p>
          <a:p>
            <a:r>
              <a:t>from the Meron chain example: evidence is never shared between worlds. Higher-depth mixed examples</a:t>
            </a:r>
          </a:p>
          <a:p>
            <a:r>
              <a:t>add another unary rule after this projection.</a:t>
            </a:r>
          </a:p>
          <a:p/>
          <a:p>
            <a:r>
              <a:t>Sources in the project:</a:t>
            </a:r>
          </a:p>
          <a:p>
            <a:r>
              <a:t>- data/benchmark/worlds.json:bench-19</a:t>
            </a:r>
          </a:p>
          <a:p>
            <a:r>
              <a:t>- b1/dataset.py:full_dataset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Mulu's sorting branch needs two rule applications before the final conjunction: sorting to checking,</a:t>
            </a:r>
          </a:p>
          <a:p>
            <a:r>
              <a:t>then checking to packing. The weaving branch needs one application, from weaving to folding. The</a:t>
            </a:r>
          </a:p>
          <a:p>
            <a:r>
              <a:t>final rule joins packing and folding to establish sealing. Its depth is one plus the maximum of the</a:t>
            </a:r>
          </a:p>
          <a:p>
            <a:r>
              <a:t>two premise depths, so 1 + max(2, 1) = 3. Counting all rule applications would yield four, and counting</a:t>
            </a:r>
          </a:p>
          <a:p>
            <a:r>
              <a:t>all source sentences would yield six; neither number is the proof depth. For any claim, the oracle</a:t>
            </a:r>
          </a:p>
          <a:p>
            <a:r>
              <a:t>minimizes depth over available proofs. A direct supporting fact would therefore give depth zero even</a:t>
            </a:r>
          </a:p>
          <a:p>
            <a:r>
              <a:t>if a much longer derivation also existed. This dataset is checked to reject such unintended shortcuts.</a:t>
            </a:r>
          </a:p>
          <a:p/>
          <a:p>
            <a:r>
              <a:t>Sources in the project:</a:t>
            </a:r>
          </a:p>
          <a:p>
            <a:r>
              <a:t>- data/benchmark/worlds.json:bench-12</a:t>
            </a:r>
          </a:p>
          <a:p>
            <a:r>
              <a:t>- b1/model.py:Solution.depth</a:t>
            </a:r>
          </a:p>
          <a:p>
            <a:r>
              <a:t>- b1/forward.py</a:t>
            </a:r>
          </a:p>
          <a:p>
            <a:r>
              <a:t>- b1/backward.py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bench-04, Meron's supported question has exact depth three. Selam's control has no proof, so its</a:t>
            </a:r>
          </a:p>
          <a:p>
            <a:r>
              <a:t>depth is null; it is not a depth-three proof that happened to fail. We assign it to bucket three because</a:t>
            </a:r>
          </a:p>
          <a:p>
            <a:r>
              <a:t>it is paired with the supported target. The validator independently checks this assignment by adding</a:t>
            </a:r>
          </a:p>
          <a:p>
            <a:r>
              <a:t>exactly one annotated missing fact, sort_parcel(Selam), and requiring the repaired claim to have depth</a:t>
            </a:r>
          </a:p>
          <a:p>
            <a:r>
              <a:t>three. This repair is a validation operation only. It never enters the model's world or prompt. Reports</a:t>
            </a:r>
          </a:p>
          <a:p>
            <a:r>
              <a:t>therefore provide both bucketed accuracy, which includes controls, and supported-only depth accuracy,</a:t>
            </a:r>
          </a:p>
          <a:p>
            <a:r>
              <a:t>which is the direct measure of performance by actual proof depth.</a:t>
            </a:r>
          </a:p>
          <a:p/>
          <a:p>
            <a:r>
              <a:t>Sources in the project:</a:t>
            </a:r>
          </a:p>
          <a:p>
            <a:r>
              <a:t>- b1/oracle.py:validate</a:t>
            </a:r>
          </a:p>
          <a:p>
            <a:r>
              <a:t>- b1/model.py:Question</a:t>
            </a:r>
          </a:p>
          <a:p>
            <a:r>
              <a:t>- data/benchmark/worlds.json:bench-04-control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oracle uses no LLM and no PLN-RAG inference library. It solves the authored logical forms with</a:t>
            </a:r>
          </a:p>
          <a:p>
            <a:r>
              <a:t>two implementations: bottom-up forward saturation and top-down backward goal search. Consensus</a:t>
            </a:r>
          </a:p>
          <a:p>
            <a:r>
              <a:t>compares their complete non-dominated proof signatures, including depth and exact source IDs, not</a:t>
            </a:r>
          </a:p>
          <a:p>
            <a:r>
              <a:t>only the final label. The signatures retain useful alternative source sets. The validator then compares</a:t>
            </a:r>
          </a:p>
          <a:p>
            <a:r>
              <a:t>the label, minimum depth, and minimum-depth proof sets with explicitly authored annotations. It also</a:t>
            </a:r>
          </a:p>
          <a:p>
            <a:r>
              <a:t>checks English-template consistency, control repairs, provenance sufficiency, and other construction</a:t>
            </a:r>
          </a:p>
          <a:p>
            <a:r>
              <a:t>invariants. If any check disagrees, evaluation stops before model calls. The two algorithms share the</a:t>
            </a:r>
          </a:p>
          <a:p>
            <a:r>
              <a:t>task representation, so their agreement is strong validation rather than a proof that all common</a:t>
            </a:r>
          </a:p>
          <a:p>
            <a:r>
              <a:t>assumptions are correct. The benchmark oracle is separate from PLN-RAG's evaluated reasoner.</a:t>
            </a:r>
          </a:p>
          <a:p/>
          <a:p>
            <a:r>
              <a:t>Sources in the project:</a:t>
            </a:r>
          </a:p>
          <a:p>
            <a:r>
              <a:t>- b1/oracle.py:consensus</a:t>
            </a:r>
          </a:p>
          <a:p>
            <a:r>
              <a:t>- b1/oracle.py:validate</a:t>
            </a:r>
          </a:p>
          <a:p>
            <a:r>
              <a:t>- b1/model.py:Solution.signature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Predicate names are shortened on this slide; they correspond to sort_parcel, check_label, pack_crate,</a:t>
            </a:r>
          </a:p>
          <a:p>
            <a:r>
              <a:t>and seal_crate. Forward reasoning starts from all known facts, joins rule premises with consistent</a:t>
            </a:r>
          </a:p>
          <a:p>
            <a:r>
              <a:t>substitutions, and repeats until no new non-dominated proofs can be inserted. Backward reasoning</a:t>
            </a:r>
          </a:p>
          <a:p>
            <a:r>
              <a:t>starts from the ground goal, matches candidate rule heads, enumerates remaining variable bindings,</a:t>
            </a:r>
          </a:p>
          <a:p>
            <a:r>
              <a:t>and recursively proves the premises. Its ancestor-aware memoization and cycle cuts are implemented</a:t>
            </a:r>
          </a:p>
          <a:p>
            <a:r>
              <a:t>separately from the forward solver's saturation and dominance pruning. This chain illustrates their</a:t>
            </a:r>
          </a:p>
          <a:p>
            <a:r>
              <a:t>opposite search directions; conjunction and relational tests exercise joining and binding behavior.</a:t>
            </a:r>
          </a:p>
          <a:p>
            <a:r>
              <a:t>Both include rule IDs as well as fact IDs in the provenance set.</a:t>
            </a:r>
          </a:p>
          <a:p/>
          <a:p>
            <a:r>
              <a:t>Sources in the project:</a:t>
            </a:r>
          </a:p>
          <a:p>
            <a:r>
              <a:t>- b1/forward.py:solve</a:t>
            </a:r>
          </a:p>
          <a:p>
            <a:r>
              <a:t>- b1/backward.py:solve</a:t>
            </a:r>
          </a:p>
          <a:p>
            <a:r>
              <a:t>- data/benchmark/hand_expected.json:bench-04-supported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RAG builds a fresh in-memory sentence index for each world/question invocation and ranks</a:t>
            </a:r>
          </a:p>
          <a:p>
            <a:r>
              <a:t>sentences by cosine similarity to the question. It retrieves exactly four with deterministic tie order;</a:t>
            </a:r>
          </a:p>
          <a:p>
            <a:r>
              <a:t>there is no reranker, query rewriting, second retrieval round, or external knowledge source. Full</a:t>
            </a:r>
          </a:p>
          <a:p>
            <a:r>
              <a:t>context skips embeddings and presents all twelve sentences using the identical baseline system</a:t>
            </a:r>
          </a:p>
          <a:p>
            <a:r>
              <a:t>prompt, output schema, and model settings. PLN-RAG ingests the world's English into its own logical</a:t>
            </a:r>
          </a:p>
          <a:p>
            <a:r>
              <a:t>representation, uses its normal query/retrieval/proof path, and can generate an answer from a proof.</a:t>
            </a:r>
          </a:p>
          <a:p>
            <a:r>
              <a:t>The benchmark derives PLN-RAG's label from its proof payload, never by interpreting answer wording.</a:t>
            </a:r>
          </a:p>
          <a:p>
            <a:r>
              <a:t>This does not turn the system's proof into oracle truth: its predicted label is still evaluated against</a:t>
            </a:r>
          </a:p>
          <a:p>
            <a:r>
              <a:t>the independent reference. Parsing, execution, and transport errors remain errors.</a:t>
            </a:r>
          </a:p>
          <a:p/>
          <a:p>
            <a:r>
              <a:t>Sources in the project:</a:t>
            </a:r>
          </a:p>
          <a:p>
            <a:r>
              <a:t>- ../normal-rag/normal_rag/core.py:answer_question</a:t>
            </a:r>
          </a:p>
          <a:p>
            <a:r>
              <a:t>- b1/records.py:pln_label</a:t>
            </a:r>
          </a:p>
          <a:p>
            <a:r>
              <a:t>- b1/pln_worker.py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 benchmark reads the canonical worlds and independent annotations, validates the full</a:t>
            </a:r>
          </a:p>
          <a:p>
            <a:r>
              <a:t>dataset, and then applies any world-limit prefix. For every selected question, the answering boundary</a:t>
            </a:r>
          </a:p>
          <a:p>
            <a:r>
              <a:t>contains only public sentences and question text. The world and question IDs are used for bookkeeping,</a:t>
            </a:r>
          </a:p>
          <a:p>
            <a:r>
              <a:t>but the baseline prompt does not contain them. Expected labels, logical forms, proof IDs, depth labels,</a:t>
            </a:r>
          </a:p>
          <a:p>
            <a:r>
              <a:t>and repair facts do not enter the model or the PLN worker. After answering, annotate() adds evaluation</a:t>
            </a:r>
          </a:p>
          <a:p>
            <a:r>
              <a:t>fields and checks proof coverage or logical sufficiency. Both the rule-chain-depth CLI and the updated</a:t>
            </a:r>
          </a:p>
          <a:p>
            <a:r>
              <a:t>normal-rag benchmark command invoke this same runner, keeping data, settings, budgets, and scoring</a:t>
            </a:r>
          </a:p>
          <a:p>
            <a:r>
              <a:t>in one implementation.</a:t>
            </a:r>
          </a:p>
          <a:p/>
          <a:p>
            <a:r>
              <a:t>Sources in the project:</a:t>
            </a:r>
          </a:p>
          <a:p>
            <a:r>
              <a:t>- b1/comparison.py:run_comparison</a:t>
            </a:r>
          </a:p>
          <a:p>
            <a:r>
              <a:t>- b1/comparison.py:annotate</a:t>
            </a:r>
          </a:p>
          <a:p>
            <a:r>
              <a:t>- b1/pln_runner.py:public_sentences</a:t>
            </a:r>
          </a:p>
          <a:p>
            <a:r>
              <a:t>- ../normal-rag/normal_rag/benchmark.py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PLN-RAG learns the world once, stores a frozen atom file, and restores it into a separate working</a:t>
            </a:r>
          </a:p>
          <a:p>
            <a:r>
              <a:t>directory and fresh process for each query. Unique vector collections isolate different worlds. The</a:t>
            </a:r>
          </a:p>
          <a:p>
            <a:r>
              <a:t>benchmark records snapshot hashes and before/after atom hashes, exposing statements added during a</a:t>
            </a:r>
          </a:p>
          <a:p>
            <a:r>
              <a:t>query. Background knowledge is disabled. These process/snapshot rules describe PLN-RAG; normal RAG</a:t>
            </a:r>
          </a:p>
          <a:p>
            <a:r>
              <a:t>instead constructs a fresh in-memory index for each invocation, and full context has no index. The</a:t>
            </a:r>
          </a:p>
          <a:p>
            <a:r>
              <a:t>shared runner matches model ID, provider routing, temperature, output limit, and relevant LLM timeout</a:t>
            </a:r>
          </a:p>
          <a:p>
            <a:r>
              <a:t>settings. Provider fallback and automatic LLM retries are disabled. One paced request cap applies to</a:t>
            </a:r>
          </a:p>
          <a:p>
            <a:r>
              <a:t>all selected systems, including PLN ingestion and query calls. Extra parser calls are still counted.</a:t>
            </a:r>
          </a:p>
          <a:p/>
          <a:p>
            <a:r>
              <a:t>Sources in the project:</a:t>
            </a:r>
          </a:p>
          <a:p>
            <a:r>
              <a:t>- b1/pln_worker.py</a:t>
            </a:r>
          </a:p>
          <a:p>
            <a:r>
              <a:t>- b1/pln_runner.py</a:t>
            </a:r>
          </a:p>
          <a:p>
            <a:r>
              <a:t>- b1/snapshot.py</a:t>
            </a:r>
          </a:p>
          <a:p>
            <a:r>
              <a:t>- b1/llm_control.py</a:t>
            </a:r>
          </a:p>
          <a:p>
            <a:r>
              <a:t>- b1/baseline.py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is calculated from the frozen dataset and both oracle solvers, not from model completions.</a:t>
            </a:r>
          </a:p>
          <a:p>
            <a:r>
              <a:t>For minimum proof sizes one through six, the counts are 5, 3, 4, 5, 2, and 1. Three supported targets</a:t>
            </a:r>
          </a:p>
          <a:p>
            <a:r>
              <a:t>require more than four source sentences: bench-12 needs six, while bench-16 and bench-20 need five.</a:t>
            </a:r>
          </a:p>
          <a:p>
            <a:r>
              <a:t>Even a perfect ranking cannot place a complete proof for these targets in a four-sentence context.</a:t>
            </a:r>
          </a:p>
          <a:p>
            <a:r>
              <a:t>This is a structural limitation of the configured retrieval baseline. It is not an upper bound on label</a:t>
            </a:r>
          </a:p>
          <a:p>
            <a:r>
              <a:t>accuracy: a model can guess SUPPORTED and happen to be correct without a sufficient shown proof.</a:t>
            </a:r>
          </a:p>
          <a:p>
            <a:r>
              <a:t>Coverage of the supplied proof and the existence of any proof in the retrieved subset are measured</a:t>
            </a:r>
          </a:p>
          <a:p>
            <a:r>
              <a:t>separately after answering. Full context supplies all twelve sentences, making it a useful comparison.</a:t>
            </a:r>
          </a:p>
          <a:p/>
          <a:p>
            <a:r>
              <a:t>Sources in the project:</a:t>
            </a:r>
          </a:p>
          <a:p>
            <a:r>
              <a:t>- data/benchmark/worlds.json</a:t>
            </a:r>
          </a:p>
          <a:p>
            <a:r>
              <a:t>- b1/oracle.py:consensus</a:t>
            </a:r>
          </a:p>
          <a:p>
            <a:r>
              <a:t>- b1/comparison.py:annotate</a:t>
            </a:r>
          </a:p>
          <a:p>
            <a:r>
              <a:t>- ../normal-rag/normal_rag/core.py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score checks whether the system's normalized label matches the expected label. Citations and</a:t>
            </a:r>
          </a:p>
          <a:p>
            <a:r>
              <a:t>proof coverage are diagnostics, not prerequisites that silently change the label score. Every selected</a:t>
            </a:r>
          </a:p>
          <a:p>
            <a:r>
              <a:t>question remains in the denominator, including explicit unattempted ERROR records after a fatal</a:t>
            </a:r>
          </a:p>
          <a:p>
            <a:r>
              <a:t>budget or transport failure. Unsupported questions have no actual proof depth, so bucketed accuracy</a:t>
            </a:r>
          </a:p>
          <a:p>
            <a:r>
              <a:t>and supported-only depth accuracy answer different questions. The report also groups by rule kind</a:t>
            </a:r>
          </a:p>
          <a:p>
            <a:r>
              <a:t>and expected label. A retrieval-sufficiency failure identifies unavailable evidence; it does not by itself</a:t>
            </a:r>
          </a:p>
          <a:p>
            <a:r>
              <a:t>prove why the LLM produced its output. If sufficient evidence was shown but the answer is wrong,</a:t>
            </a:r>
          </a:p>
          <a:p>
            <a:r>
              <a:t>inspect reasoning and response validity. PLN parse acceptance alone does not establish semantic</a:t>
            </a:r>
          </a:p>
          <a:p>
            <a:r>
              <a:t>correctness of the translated atom, so raw atoms and proofs remain necessary for diagnosis.</a:t>
            </a:r>
          </a:p>
          <a:p/>
          <a:p>
            <a:r>
              <a:t>Sources in the project:</a:t>
            </a:r>
          </a:p>
          <a:p>
            <a:r>
              <a:t>- b1/comparison.py:score</a:t>
            </a:r>
          </a:p>
          <a:p>
            <a:r>
              <a:t>- b1/comparison.py:build_summary</a:t>
            </a:r>
          </a:p>
          <a:p>
            <a:r>
              <a:t>- b1/comparison.py:annotate</a:t>
            </a:r>
          </a:p>
          <a:p>
            <a:r>
              <a:t>- b1/records.py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 runner writes a unique artifacts/benchmark/&lt;run-id&gt; directory. Prepared runs contain</a:t>
            </a:r>
          </a:p>
          <a:p>
            <a:r>
              <a:t>validated inputs and a manifest but no live result summary. Live runs preserve the raw model response</a:t>
            </a:r>
          </a:p>
          <a:p>
            <a:r>
              <a:t>and exact request payload without authorization headers. COMPLETE means no error records were</a:t>
            </a:r>
          </a:p>
          <a:p>
            <a:r>
              <a:t>produced; answers may still be incorrect. COMPLETE_WITH_ERRORS preserves those failures in the</a:t>
            </a:r>
          </a:p>
          <a:p>
            <a:r>
              <a:t>score. Record-count completion, actual execution completion, and full-dataset selection are separate</a:t>
            </a:r>
          </a:p>
          <a:p>
            <a:r>
              <a:t>fields. Answer timing includes model and pacing waits. PLN learning time is separate; RAG index-build</a:t>
            </a:r>
          </a:p>
          <a:p>
            <a:r>
              <a:t>time is also recorded separately. Model/provider and token usage come from observed responses;</a:t>
            </a:r>
          </a:p>
          <a:p>
            <a:r>
              <a:t>missing measurements are never converted to fabricated zeros or inferred values.</a:t>
            </a:r>
          </a:p>
          <a:p/>
          <a:p>
            <a:r>
              <a:t>Sources in the project:</a:t>
            </a:r>
          </a:p>
          <a:p>
            <a:r>
              <a:t>- RUNNING.md:Read the results</a:t>
            </a:r>
          </a:p>
          <a:p>
            <a:r>
              <a:t>- b1/comparison.py:build_summary</a:t>
            </a:r>
          </a:p>
          <a:p>
            <a:r>
              <a:t>- b1/llm_control.py</a:t>
            </a:r>
          </a:p>
          <a:p>
            <a:r>
              <a:t>- b1/pln_runner.py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benchmark offers controlled evidence about a small synthetic reasoning task. It does not establish</a:t>
            </a:r>
          </a:p>
          <a:p>
            <a:r>
              <a:t>general capability rankings for open-domain RAG or unrestricted reasoning. The twenty paired worlds</a:t>
            </a:r>
          </a:p>
          <a:p>
            <a:r>
              <a:t>share authoring templates, and each world contributes both a positive and a control, so observations</a:t>
            </a:r>
          </a:p>
          <a:p>
            <a:r>
              <a:t>are correlated. Wilson 95% binomial intervals are reported descriptively, with that dependence caveat.</a:t>
            </a:r>
          </a:p>
          <a:p>
            <a:r>
              <a:t>The target rule kind is not fully crossed with depth, and greater depth can also require more source</a:t>
            </a:r>
          </a:p>
          <a:p>
            <a:r>
              <a:t>sentences, particularly for conjunctive and relational proofs. The top-four capacity constraint must</a:t>
            </a:r>
          </a:p>
          <a:p>
            <a:r>
              <a:t>therefore be considered alongside inference depth. Offline tests and the diagrams in this deck validate</a:t>
            </a:r>
          </a:p>
          <a:p>
            <a:r>
              <a:t>implementation and dataset properties; model-accuracy claims require a complete, audited live run.</a:t>
            </a:r>
          </a:p>
          <a:p/>
          <a:p>
            <a:r>
              <a:t>Sources in the project:</a:t>
            </a:r>
          </a:p>
          <a:p>
            <a:r>
              <a:t>- README.md:Depth and the 40-question experiment</a:t>
            </a:r>
          </a:p>
          <a:p>
            <a:r>
              <a:t>- RUNNING.md</a:t>
            </a:r>
          </a:p>
          <a:p>
            <a:r>
              <a:t>- b1/comparison.py:build_summary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the motivating question: how reliably can each pipeline follow rules as proof requirements</a:t>
            </a:r>
          </a:p>
          <a:p>
            <a:r>
              <a:t>grow? The oracle establishes what follows from the authored evidence, independent of model output.</a:t>
            </a:r>
          </a:p>
          <a:p>
            <a:r>
              <a:t>Evidence diagnostics establish what the answering component had access to. Raw records help explain</a:t>
            </a:r>
          </a:p>
          <a:p>
            <a:r>
              <a:t>why an answer or execution failed. Keeping those three layers distinct makes the experiment more</a:t>
            </a:r>
          </a:p>
          <a:p>
            <a:r>
              <a:t>informative than a single aggregate score. The following reference slides provide run commands,</a:t>
            </a:r>
          </a:p>
          <a:p>
            <a:r>
              <a:t>the complete bench-04 world, and an example oracle answer record for discussion.</a:t>
            </a:r>
          </a:p>
          <a:p/>
          <a:p>
            <a:r>
              <a:t>Sources in the project:</a:t>
            </a:r>
          </a:p>
          <a:p>
            <a:r>
              <a:t>- b1/oracle.py</a:t>
            </a:r>
          </a:p>
          <a:p>
            <a:r>
              <a:t>- b1/comparison.py</a:t>
            </a:r>
          </a:p>
          <a:p>
            <a:r>
              <a:t>- RUNNING.md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commands use the shared rule-chain-depth dataset, .env settings, request budget, and artifact</a:t>
            </a:r>
          </a:p>
          <a:p>
            <a:r>
              <a:t>directory. Inherited environment values take precedence. Remove --prepare-only for a live baseline</a:t>
            </a:r>
          </a:p>
          <a:p>
            <a:r>
              <a:t>run. Add --world-limit 4 for an eight-question-per-system trial. For all three systems with Docker,</a:t>
            </a:r>
          </a:p>
          <a:p>
            <a:r>
              <a:t>run: python3 -m b1 benchmark --container pln-rag-pln-rag-1. The shared b1 command defaults to all</a:t>
            </a:r>
          </a:p>
          <a:p>
            <a:r>
              <a:t>three systems; the normal-rag wrapper defaults to rag and full_context. The rough full-run estimate</a:t>
            </a:r>
          </a:p>
          <a:p>
            <a:r>
              <a:t>is 240 PLN sentence parses plus 40 question parses plus about 20 answer generations, totaling about</a:t>
            </a:r>
          </a:p>
          <a:p>
            <a:r>
              <a:t>300 PLN calls, then 40 for each baseline. Extra parser/formatting requests can increase this estimate;</a:t>
            </a:r>
          </a:p>
          <a:p>
            <a:r>
              <a:t>missing proofs or failures can reduce the observed calls. The cap is one shared attempt budget, not</a:t>
            </a:r>
          </a:p>
          <a:p>
            <a:r>
              <a:t>a dollar budget or account quota. Model calls are real and may be billable.</a:t>
            </a:r>
          </a:p>
          <a:p/>
          <a:p>
            <a:r>
              <a:t>Sources in the project:</a:t>
            </a:r>
          </a:p>
          <a:p>
            <a:r>
              <a:t>- RUNNING.md</a:t>
            </a:r>
          </a:p>
          <a:p>
            <a:r>
              <a:t>- ../normal-rag/README.md</a:t>
            </a:r>
          </a:p>
          <a:p>
            <a:r>
              <a:t>- b1/cli.py</a:t>
            </a:r>
          </a:p>
          <a:p>
            <a:r>
              <a:t>- ../normal-rag/normal_rag/benchmark.py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complete English evidence from the frozen world in its original S01-to-S12 order.</a:t>
            </a:r>
          </a:p>
          <a:p>
            <a:r>
              <a:t>The proof uses S01, S03, S07, and S08. The other sentences are distractors for the supported goal,</a:t>
            </a:r>
          </a:p>
          <a:p>
            <a:r>
              <a:t>even when they contain valid facts and rules or mention Selam. The actual model receives the world</a:t>
            </a:r>
          </a:p>
          <a:p>
            <a:r>
              <a:t>without highlighting or expected labels. This example illustrates that a sentence can be locally</a:t>
            </a:r>
          </a:p>
          <a:p>
            <a:r>
              <a:t>meaningful and logically productive while still being irrelevant to the target claim. The proof's</a:t>
            </a:r>
          </a:p>
          <a:p>
            <a:r>
              <a:t>logical order is S08, S03, S01, S07, which differs from the shuffled input order.</a:t>
            </a:r>
          </a:p>
          <a:p/>
          <a:p>
            <a:r>
              <a:t>Sources in the project:</a:t>
            </a:r>
          </a:p>
          <a:p>
            <a:r>
              <a:t>- data/benchmark/worlds.json:bench-04</a:t>
            </a:r>
          </a:p>
          <a:p>
            <a:r>
              <a:t>- data/benchmark/hand_expected.json:bench-04-supported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shown JSON is a projection of the real oracle answer for bench-04-supported. minimum_depth_proofs</a:t>
            </a:r>
          </a:p>
          <a:p>
            <a:r>
              <a:t>lists the sentence source sets of all proofs at the minimum depth; the complete oracle output also</a:t>
            </a:r>
          </a:p>
          <a:p>
            <a:r>
              <a:t>contains a non-dominated proof frontier. Unsupported controls instead have depth null and an empty</a:t>
            </a:r>
          </a:p>
          <a:p>
            <a:r>
              <a:t>minimum-depth proof list. The depth_bucket remains the paired experimental bucket. The logical-form</a:t>
            </a:r>
          </a:p>
          <a:p>
            <a:r>
              <a:t>oracle inputs live in data/benchmark/worlds.json and the independent annotations in hand_expected.json.</a:t>
            </a:r>
          </a:p>
          <a:p>
            <a:r>
              <a:t>The generated source_manifest.json beside this deck records the dataset fingerprint, file hashes,</a:t>
            </a:r>
          </a:p>
          <a:p>
            <a:r>
              <a:t>counts, and example-world IDs so the deck's examples can be traced to this source snapshot. Speaker</a:t>
            </a:r>
          </a:p>
          <a:p>
            <a:r>
              <a:t>notes contain per-slide sources. No live benchmark accuracy measurements are presented here.</a:t>
            </a:r>
          </a:p>
          <a:p/>
          <a:p>
            <a:r>
              <a:t>Sources in the project:</a:t>
            </a:r>
          </a:p>
          <a:p>
            <a:r>
              <a:t>- b1/model.py:Solution.to_dict</a:t>
            </a:r>
          </a:p>
          <a:p>
            <a:r>
              <a:t>- b1/oracle.py</a:t>
            </a:r>
          </a:p>
          <a:p>
            <a:r>
              <a:t>- data/benchmark/hand_expected.json</a:t>
            </a:r>
          </a:p>
          <a:p>
            <a:r>
              <a:t>- RUNNING.md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B5C7DA"/>
                </a:solidFill>
                <a:latin typeface="Arial"/>
              </a:defRPr>
            </a:pPr>
            <a:r>
              <a:t>RULE-CHAIN DEPTH  /  BENCHMARK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B5C7D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B5C7D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33856"/>
            <a:ext cx="8046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t>How far can a system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t>follow a rule chain?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62072"/>
            <a:ext cx="8183879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B5C7DA"/>
                </a:solidFill>
                <a:latin typeface="Arial"/>
              </a:defRPr>
            </a:pPr>
            <a:r>
              <a:t>Inside the 40-question comparison of PLN-RAG,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B5C7DA"/>
                </a:solidFill>
                <a:latin typeface="Arial"/>
              </a:defRPr>
            </a:pPr>
            <a:r>
              <a:t>normal RAG, and full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2011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1149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B5C7DA"/>
                </a:solidFill>
                <a:latin typeface="Arial"/>
              </a:defRPr>
            </a:pPr>
            <a:r>
              <a:t>isolated worlds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370832"/>
            <a:ext cx="2011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11149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B5C7DA"/>
                </a:solidFill>
                <a:latin typeface="Arial"/>
              </a:defRPr>
            </a:pPr>
            <a: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4370832"/>
            <a:ext cx="2011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4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511149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B5C7DA"/>
                </a:solidFill>
                <a:latin typeface="Arial"/>
              </a:defRPr>
            </a:pPr>
            <a:r>
              <a:t>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2016" y="1490472"/>
            <a:ext cx="1755648" cy="658368"/>
          </a:xfrm>
          <a:prstGeom prst="roundRect">
            <a:avLst>
              <a:gd name="adj" fmla="val 10000"/>
            </a:avLst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1600200"/>
            <a:ext cx="1536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depth 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40" y="2121408"/>
            <a:ext cx="0" cy="301752"/>
          </a:xfrm>
          <a:prstGeom prst="line">
            <a:avLst/>
          </a:prstGeom>
          <a:ln w="22860">
            <a:solidFill>
              <a:srgbClr val="B5C7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72016" y="2514600"/>
            <a:ext cx="1755648" cy="658368"/>
          </a:xfrm>
          <a:prstGeom prst="roundRect">
            <a:avLst>
              <a:gd name="adj" fmla="val 10000"/>
            </a:avLst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2624328"/>
            <a:ext cx="1536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depth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49840" y="3145536"/>
            <a:ext cx="0" cy="301752"/>
          </a:xfrm>
          <a:prstGeom prst="line">
            <a:avLst/>
          </a:prstGeom>
          <a:ln w="22860">
            <a:solidFill>
              <a:srgbClr val="B5C7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72016" y="3538728"/>
            <a:ext cx="1755648" cy="658368"/>
          </a:xfrm>
          <a:prstGeom prst="roundRect">
            <a:avLst>
              <a:gd name="adj" fmla="val 10000"/>
            </a:avLst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3648456"/>
            <a:ext cx="1536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depth 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49840" y="4169664"/>
            <a:ext cx="0" cy="301752"/>
          </a:xfrm>
          <a:prstGeom prst="line">
            <a:avLst/>
          </a:prstGeom>
          <a:ln w="22860">
            <a:solidFill>
              <a:srgbClr val="B5C7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72016" y="4562856"/>
            <a:ext cx="1755648" cy="658368"/>
          </a:xfrm>
          <a:prstGeom prst="roundRect">
            <a:avLst>
              <a:gd name="adj" fmla="val 10000"/>
            </a:avLst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4672584"/>
            <a:ext cx="1536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depth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79592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5C7DA"/>
                </a:solidFill>
                <a:latin typeface="Arial"/>
              </a:defRPr>
            </a:pPr>
            <a:r>
              <a:t>Technical explanation • 22 main slides + 3 reference slides •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One question, three ways to use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The experiment varies the system while keeping each world and question fixed.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07208"/>
            <a:ext cx="2148840" cy="1243584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929384" cy="771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12 sentences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+ one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752331"/>
            <a:ext cx="1965960" cy="24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one isolated world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3410712"/>
            <a:ext cx="429768" cy="0"/>
          </a:xfrm>
          <a:prstGeom prst="line">
            <a:avLst/>
          </a:prstGeom>
          <a:ln w="22860">
            <a:solidFill>
              <a:srgbClr val="55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73552" y="2532888"/>
            <a:ext cx="0" cy="2514600"/>
          </a:xfrm>
          <a:prstGeom prst="line">
            <a:avLst/>
          </a:prstGeom>
          <a:ln w="22860">
            <a:solidFill>
              <a:srgbClr val="55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73552" y="2532888"/>
            <a:ext cx="420624" cy="0"/>
          </a:xfrm>
          <a:prstGeom prst="line">
            <a:avLst/>
          </a:prstGeom>
          <a:ln w="22860">
            <a:solidFill>
              <a:srgbClr val="55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73552" y="3785615"/>
            <a:ext cx="420624" cy="0"/>
          </a:xfrm>
          <a:prstGeom prst="line">
            <a:avLst/>
          </a:prstGeom>
          <a:ln w="22860">
            <a:solidFill>
              <a:srgbClr val="55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73552" y="5047488"/>
            <a:ext cx="420624" cy="0"/>
          </a:xfrm>
          <a:prstGeom prst="line">
            <a:avLst/>
          </a:prstGeom>
          <a:ln w="22860">
            <a:solidFill>
              <a:srgbClr val="5565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94760" y="2057400"/>
            <a:ext cx="3291840" cy="960120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4488" y="2167128"/>
            <a:ext cx="307238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2F65D5"/>
                </a:solidFill>
                <a:latin typeface="Arial"/>
              </a:defRPr>
            </a:pPr>
            <a:r>
              <a:t>Normal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623870"/>
            <a:ext cx="310896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retrieve 4 → LLM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50608" y="2523744"/>
            <a:ext cx="740664" cy="923544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94760" y="3310128"/>
            <a:ext cx="3291840" cy="960120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4488" y="3419856"/>
            <a:ext cx="307238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Full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876598"/>
            <a:ext cx="310896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all 12 → LLM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150608" y="3447288"/>
            <a:ext cx="740664" cy="329184"/>
          </a:xfrm>
          <a:prstGeom prst="line">
            <a:avLst/>
          </a:prstGeom>
          <a:ln w="22860">
            <a:solidFill>
              <a:srgbClr val="0787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94760" y="4562856"/>
            <a:ext cx="3291840" cy="960120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04488" y="4672584"/>
            <a:ext cx="307238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7851B8"/>
                </a:solidFill>
                <a:latin typeface="Arial"/>
              </a:defRPr>
            </a:pPr>
            <a:r>
              <a:t>PLN-RAG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129326"/>
            <a:ext cx="310896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parse → retrieve / prove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150608" y="3447288"/>
            <a:ext cx="740664" cy="1581912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28431" y="2834640"/>
            <a:ext cx="3401568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9" y="2944368"/>
            <a:ext cx="3182112" cy="6419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52940"/>
                </a:solidFill>
                <a:latin typeface="Arial"/>
              </a:defRPr>
            </a:pPr>
            <a:r>
              <a:t>Compare with the oracle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3562959"/>
            <a:ext cx="3218688" cy="370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152940"/>
                </a:solidFill>
                <a:latin typeface="Arial"/>
              </a:defRPr>
            </a:pPr>
            <a:r>
              <a:t>label • exact depth • proof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7877E"/>
                </a:solidFill>
                <a:latin typeface="Arial"/>
              </a:defRPr>
            </a:pPr>
            <a:r>
              <a:t>Ask where performance changes: evidence selection, translation, inference, or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A balanced 40-question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Each world contributes one supported target and one unsupported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Sources: data/benchmark/worlds.json • b1/dataset.py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4600" b="1">
                <a:solidFill>
                  <a:srgbClr val="15294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57A"/>
                </a:solidFill>
                <a:latin typeface="Arial"/>
              </a:defRPr>
            </a:pPr>
            <a:r>
              <a:t>worlds × 2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029968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4600" b="1">
                <a:solidFill>
                  <a:srgbClr val="152940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779776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57A"/>
                </a:solidFill>
                <a:latin typeface="Arial"/>
              </a:defRPr>
            </a:pPr>
            <a:r>
              <a:t>questions per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029968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4600" b="1">
                <a:solidFill>
                  <a:srgbClr val="152940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779776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55657A"/>
                </a:solidFill>
                <a:latin typeface="Arial"/>
              </a:defRPr>
            </a:pPr>
            <a:r>
              <a:t>records across 3 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02736"/>
            <a:ext cx="2660904" cy="1581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6732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52940"/>
                </a:solidFill>
                <a:latin typeface="Arial"/>
              </a:defRPr>
            </a:pPr>
            <a:r>
              <a:t>DEPTH BUCKET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2611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5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451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BD4E46"/>
                </a:solidFill>
                <a:latin typeface="Arial"/>
              </a:defRPr>
            </a:pPr>
            <a:r>
              <a:t>5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0712" y="3602736"/>
            <a:ext cx="2660904" cy="1581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5304" y="376732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52940"/>
                </a:solidFill>
                <a:latin typeface="Arial"/>
              </a:defRPr>
            </a:pPr>
            <a:r>
              <a:t>DEPTH BUCKET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42611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5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46451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BD4E46"/>
                </a:solidFill>
                <a:latin typeface="Arial"/>
              </a:defRPr>
            </a:pPr>
            <a:r>
              <a:t>5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3602736"/>
            <a:ext cx="2660904" cy="1581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76732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52940"/>
                </a:solidFill>
                <a:latin typeface="Arial"/>
              </a:defRPr>
            </a:pPr>
            <a:r>
              <a:t>DEPTH BUCKET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2611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5 supported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46451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BD4E46"/>
                </a:solidFill>
                <a:latin typeface="Arial"/>
              </a:defRPr>
            </a:pPr>
            <a:r>
              <a:t>5 controls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3416" y="3602736"/>
            <a:ext cx="2660904" cy="1581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8" y="376732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52940"/>
                </a:solidFill>
                <a:latin typeface="Arial"/>
              </a:defRPr>
            </a:pPr>
            <a:r>
              <a:t>DEPTH BUCKET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42611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5 supported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46451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BD4E46"/>
                </a:solidFill>
                <a:latin typeface="Arial"/>
              </a:defRPr>
            </a:pPr>
            <a:r>
              <a:t>5 controls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7877E"/>
                </a:solidFill>
                <a:latin typeface="Arial"/>
              </a:defRPr>
            </a:pPr>
            <a:r>
              <a:t>12 sentences per world  =  150 fact entries + 90 rule entries across the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A world is a small, self-contained evidence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Running example: bench-04. Six of its twelve sentences are shown 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Source: data/benchmark/worlds.json • bench-04 • proof highlighting added for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29968"/>
            <a:ext cx="7534656" cy="512064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148840"/>
            <a:ext cx="52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07877E"/>
                </a:solidFill>
                <a:latin typeface="Arial"/>
              </a:defRPr>
            </a:pPr>
            <a:r>
              <a:t>S08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112264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07877E"/>
                </a:solidFill>
                <a:latin typeface="Arial"/>
              </a:defRPr>
            </a:pPr>
            <a:r>
              <a:t>Meron can sort a parcel.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33472"/>
            <a:ext cx="7534656" cy="512064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752344"/>
            <a:ext cx="52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07877E"/>
                </a:solidFill>
                <a:latin typeface="Arial"/>
              </a:defRPr>
            </a:pPr>
            <a:r>
              <a:t>S03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715768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07877E"/>
                </a:solidFill>
                <a:latin typeface="Arial"/>
              </a:defRPr>
            </a:pPr>
            <a:r>
              <a:t>Everyone who can sort a parcel can check a label.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36976"/>
            <a:ext cx="7534656" cy="512064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355848"/>
            <a:ext cx="52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07877E"/>
                </a:solidFill>
                <a:latin typeface="Arial"/>
              </a:defRPr>
            </a:pPr>
            <a:r>
              <a:t>S01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319272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07877E"/>
                </a:solidFill>
                <a:latin typeface="Arial"/>
              </a:defRPr>
            </a:pPr>
            <a:r>
              <a:t>Everyone who can check a label can pack a crate.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40480"/>
            <a:ext cx="7534656" cy="512064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3959352"/>
            <a:ext cx="52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07877E"/>
                </a:solidFill>
                <a:latin typeface="Arial"/>
              </a:defRPr>
            </a:pPr>
            <a:r>
              <a:t>S07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22776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07877E"/>
                </a:solidFill>
                <a:latin typeface="Arial"/>
              </a:defRPr>
            </a:pPr>
            <a:r>
              <a:t>Everyone who can pack a crate can seal a crate.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443984"/>
            <a:ext cx="753465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562856"/>
            <a:ext cx="52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55657A"/>
                </a:solidFill>
                <a:latin typeface="Arial"/>
              </a:defRPr>
            </a:pPr>
            <a:r>
              <a:t>S02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52628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Selam can paint a gate.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047488"/>
            <a:ext cx="7534656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5166360"/>
            <a:ext cx="52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55657A"/>
                </a:solidFill>
                <a:latin typeface="Arial"/>
              </a:defRPr>
            </a:pPr>
            <a:r>
              <a:t>S11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5129784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Everyone who can paint a gate can clean a bench.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85048" y="2039112"/>
            <a:ext cx="3172968" cy="1536192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5048" y="2130552"/>
            <a:ext cx="41148" cy="1353312"/>
          </a:xfrm>
          <a:prstGeom prst="rect">
            <a:avLst/>
          </a:prstGeom>
          <a:solidFill>
            <a:srgbClr val="07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2203704"/>
            <a:ext cx="280720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SUPPORTED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2697480"/>
            <a:ext cx="28072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Can Meron seal a crate?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5048" y="3794760"/>
            <a:ext cx="3172968" cy="1536192"/>
          </a:xfrm>
          <a:prstGeom prst="roundRect">
            <a:avLst>
              <a:gd name="adj" fmla="val 10000"/>
            </a:avLst>
          </a:prstGeom>
          <a:solidFill>
            <a:srgbClr val="FCECE9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85048" y="3886200"/>
            <a:ext cx="41148" cy="1353312"/>
          </a:xfrm>
          <a:prstGeom prst="rect">
            <a:avLst/>
          </a:prstGeom>
          <a:solidFill>
            <a:srgbClr val="BD4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7928" y="3959352"/>
            <a:ext cx="280720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BD4E46"/>
                </a:solidFill>
                <a:latin typeface="Arial"/>
              </a:defRPr>
            </a:pPr>
            <a:r>
              <a:t>NOT_ESTABLISHED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7928" y="4453128"/>
            <a:ext cx="28072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Can Selam seal a crate?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The same rules apply to both people. The available starting facts decide what can be proved.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Facts and rules have precise logical meanings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The oracle works over positive, function-free Horn clauses with unary or binary atoms.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29968"/>
            <a:ext cx="3575304" cy="31363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21408"/>
            <a:ext cx="41148" cy="2953512"/>
          </a:xfrm>
          <a:prstGeom prst="rect">
            <a:avLst/>
          </a:prstGeom>
          <a:solidFill>
            <a:srgbClr val="07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3209544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07792"/>
            <a:ext cx="3209544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A ground assertion about named entities.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Meron can sort a parcel.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2029968"/>
            <a:ext cx="3575304" cy="31363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2121408"/>
            <a:ext cx="41148" cy="2953512"/>
          </a:xfrm>
          <a:prstGeom prst="rect">
            <a:avLst/>
          </a:prstGeom>
          <a:solidFill>
            <a:srgbClr val="2F6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2194560"/>
            <a:ext cx="3209544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907792"/>
            <a:ext cx="3209544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A conclusion follows whenever its premises hold for the same binding.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9288" y="2029968"/>
            <a:ext cx="3575304" cy="31363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2121408"/>
            <a:ext cx="41148" cy="2953512"/>
          </a:xfrm>
          <a:prstGeom prst="rect">
            <a:avLst/>
          </a:prstGeom>
          <a:solidFill>
            <a:srgbClr val="785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2194560"/>
            <a:ext cx="3209544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907792"/>
            <a:ext cx="3209544" cy="2130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A binary atom links two entities.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Genet can mentor Bekele.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62272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07877E"/>
                </a:solidFill>
                <a:latin typeface="Courier New"/>
              </a:defRPr>
            </a:pPr>
            <a:r>
              <a:t>sort_parcel(Meron)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4151376"/>
            <a:ext cx="312724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F65D5"/>
                </a:solidFill>
                <a:latin typeface="Courier New"/>
              </a:defRPr>
            </a:pPr>
            <a:r>
              <a:t>sort_parcel(x)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F65D5"/>
                </a:solidFill>
                <a:latin typeface="Courier New"/>
              </a:defRPr>
            </a:pPr>
            <a:r>
              <a:t>       → check_label(x)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4462272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7851B8"/>
                </a:solidFill>
                <a:latin typeface="Courier New"/>
              </a:defRPr>
            </a:pPr>
            <a:r>
              <a:t>mentor(Genet, Bekele)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7877E"/>
                </a:solidFill>
                <a:latin typeface="Arial"/>
              </a:defRPr>
            </a:pPr>
            <a:r>
              <a:t>Rules have at most two premises. No explicit negation or function symbols are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WORLD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Five types of target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The type describes the supported proof; distractor sentences can contain other rule patterns.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29968"/>
            <a:ext cx="10991088" cy="612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671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9776" y="2148840"/>
            <a:ext cx="5175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52940"/>
                </a:solidFill>
                <a:latin typeface="Arial"/>
              </a:defRPr>
            </a:pPr>
            <a:r>
              <a:t>A named fact already establishes the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57984"/>
            <a:ext cx="2660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70" b="0">
                <a:solidFill>
                  <a:srgbClr val="07877E"/>
                </a:solidFill>
                <a:latin typeface="Courier New"/>
              </a:defRPr>
            </a:pPr>
            <a:r>
              <a:t>A(a)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9376" y="2139696"/>
            <a:ext cx="32918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07877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52344"/>
            <a:ext cx="10991088" cy="612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8950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2F65D5"/>
                </a:solidFill>
                <a:latin typeface="Arial"/>
              </a:defRPr>
            </a:pPr>
            <a:r>
              <a:t>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2871216"/>
            <a:ext cx="5175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52940"/>
                </a:solidFill>
                <a:latin typeface="Arial"/>
              </a:defRPr>
            </a:pPr>
            <a:r>
              <a:t>One conclusion becomes the next rule's premise.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880360"/>
            <a:ext cx="2660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70" b="0">
                <a:solidFill>
                  <a:srgbClr val="2F65D5"/>
                </a:solidFill>
                <a:latin typeface="Courier New"/>
              </a:defRPr>
            </a:pPr>
            <a:r>
              <a:t>A(x) → B(x) → C(x)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2862072"/>
            <a:ext cx="32918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2F65D5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10991088" cy="612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6118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7851B8"/>
                </a:solidFill>
                <a:latin typeface="Arial"/>
              </a:defRPr>
            </a:pPr>
            <a:r>
              <a:t>Conjunction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" y="3593592"/>
            <a:ext cx="5175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52940"/>
                </a:solidFill>
                <a:latin typeface="Arial"/>
              </a:defRPr>
            </a:pPr>
            <a:r>
              <a:t>Two premises must hold for the same person.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602736"/>
            <a:ext cx="2660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70" b="0">
                <a:solidFill>
                  <a:srgbClr val="7851B8"/>
                </a:solidFill>
                <a:latin typeface="Courier New"/>
              </a:defRPr>
            </a:pPr>
            <a:r>
              <a:t>A(x) ∧ B(x) → C(x)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9376" y="3584448"/>
            <a:ext cx="32918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7851B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97096"/>
            <a:ext cx="10991088" cy="612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33425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A65F16"/>
                </a:solidFill>
                <a:latin typeface="Arial"/>
              </a:defRPr>
            </a:pPr>
            <a:r>
              <a:t>Relational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6" y="4315968"/>
            <a:ext cx="5175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52940"/>
                </a:solidFill>
                <a:latin typeface="Arial"/>
              </a:defRPr>
            </a:pPr>
            <a:r>
              <a:t>Two binary facts join through a shared entity.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325112"/>
            <a:ext cx="2660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70" b="0">
                <a:solidFill>
                  <a:srgbClr val="A65F16"/>
                </a:solidFill>
                <a:latin typeface="Courier New"/>
              </a:defRPr>
            </a:pPr>
            <a:r>
              <a:t>R(x,y) ∧ R(y,z) → T(x,z)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9376" y="4306824"/>
            <a:ext cx="32918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A65F1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919472"/>
            <a:ext cx="10991088" cy="612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05663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BD4E46"/>
                </a:solidFill>
                <a:latin typeface="Arial"/>
              </a:defRPr>
            </a:pPr>
            <a:r>
              <a:t>Mixed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9776" y="5038344"/>
            <a:ext cx="5175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52940"/>
                </a:solidFill>
                <a:latin typeface="Arial"/>
              </a:defRPr>
            </a:pPr>
            <a:r>
              <a:t>A relation leads to a unary capability.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047488"/>
            <a:ext cx="2660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70" b="0">
                <a:solidFill>
                  <a:srgbClr val="BD4E46"/>
                </a:solidFill>
                <a:latin typeface="Courier New"/>
              </a:defRPr>
            </a:pPr>
            <a:r>
              <a:t>T(x,y) → U(x)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9376" y="5029200"/>
            <a:ext cx="32918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BD4E4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1904" y="169164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55657A"/>
                </a:solidFill>
                <a:latin typeface="Arial"/>
              </a:defRPr>
            </a:pPr>
            <a:r>
              <a:t>WORLDS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Depth 0 contains fact worlds. The other types span depths 1–3; the design is not fully crossed.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EXAMPLE /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A three-rule chain gives proof depth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bench-04: Can Meron seal a crate?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Source: bench-04 • exact proof IDs S08, S03, S01, S07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2331720"/>
            <a:ext cx="2286000" cy="1463040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441448"/>
            <a:ext cx="2066543" cy="907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7877E"/>
                </a:solidFill>
                <a:latin typeface="Arial"/>
              </a:defRPr>
            </a:pPr>
            <a:r>
              <a:t>Sort a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7877E"/>
                </a:solidFill>
                <a:latin typeface="Arial"/>
              </a:defRPr>
            </a:pPr>
            <a:r>
              <a:t>parcel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" y="344363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S08 • 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4087368"/>
            <a:ext cx="2286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07877E"/>
                </a:solidFill>
                <a:latin typeface="Arial"/>
              </a:defRPr>
            </a:pPr>
            <a:r>
              <a:t>depth 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962656"/>
            <a:ext cx="402336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2331720"/>
            <a:ext cx="2286000" cy="1463040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441448"/>
            <a:ext cx="2066543" cy="907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Check a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44363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apply S03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087368"/>
            <a:ext cx="2286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depth 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15584" y="2962656"/>
            <a:ext cx="402336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18504" y="2331720"/>
            <a:ext cx="2286000" cy="1463040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441448"/>
            <a:ext cx="2066543" cy="907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Pack a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crate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44363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apply S01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087368"/>
            <a:ext cx="2286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depth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59367" y="2962656"/>
            <a:ext cx="402337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62288" y="2331720"/>
            <a:ext cx="2286000" cy="1463040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441448"/>
            <a:ext cx="2066543" cy="907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Seal a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crate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44363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apply S07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4087368"/>
            <a:ext cx="2286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F65D5"/>
                </a:solidFill>
                <a:latin typeface="Arial"/>
              </a:defRPr>
            </a:pPr>
            <a:r>
              <a:t>depth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4901184"/>
            <a:ext cx="10744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52940"/>
                </a:solidFill>
                <a:latin typeface="Arial"/>
              </a:defRPr>
            </a:pPr>
            <a:r>
              <a:t>One fact + three rules = four proof sentences. Every inference is about Meron.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Oracle answer: SUPPORTED     |     minimum depth: 3     |     proof: {S01, S03, S07, S08}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EXAMPLE / CONJUNCTION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Conjunction requires both premises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bench-10: Can Almaz check a label?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Source: bench-10 • proof S03, S05, S11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291840" cy="941832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50008"/>
            <a:ext cx="3072384" cy="489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Almaz can sort a parcel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95960"/>
            <a:ext cx="3108960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S05 • depth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60"/>
            <a:ext cx="3291840" cy="941832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904488"/>
            <a:ext cx="3072384" cy="489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Almaz can weave a 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50440"/>
            <a:ext cx="3108960" cy="282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S03 • depth 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78224" y="2715768"/>
            <a:ext cx="886968" cy="694944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078224" y="3529584"/>
            <a:ext cx="886968" cy="749808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84064" y="2935224"/>
            <a:ext cx="1298448" cy="1024128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3044952"/>
            <a:ext cx="1078992" cy="532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2F65D5"/>
                </a:solidFill>
                <a:latin typeface="Arial"/>
              </a:defRPr>
            </a:pPr>
            <a:r>
              <a:t>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3" y="3539459"/>
            <a:ext cx="1115568" cy="307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S11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64808" y="3447288"/>
            <a:ext cx="621792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96328" y="2926080"/>
            <a:ext cx="4160520" cy="1078992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6056" y="3035808"/>
            <a:ext cx="3941063" cy="56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F65D5"/>
                </a:solidFill>
                <a:latin typeface="Arial"/>
              </a:defRPr>
            </a:pPr>
            <a:r>
              <a:t>Almaz can check a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3562685"/>
            <a:ext cx="3977639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SUPPORTED • depth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047488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0">
                <a:solidFill>
                  <a:srgbClr val="152940"/>
                </a:solidFill>
                <a:latin typeface="Courier New"/>
              </a:defRPr>
            </a:pPr>
            <a:r>
              <a:t>sort_parcel(x) ∧ weave_mat(x) → check_label(x)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The shared x matters: facts about two different people do not satisfy this rule.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EXAMPLE / RELATIONAL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A relational hop can have proof depth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bench-14: Can Genet train Abebe?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Source: bench-14 • proof S05, S06, S09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2560320" cy="859536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23408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7851B8"/>
                </a:solidFill>
                <a:latin typeface="Arial"/>
              </a:defRPr>
            </a:pPr>
            <a:r>
              <a:t>Genet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3168" y="2240280"/>
            <a:ext cx="2560320" cy="859536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2350008"/>
            <a:ext cx="23408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7851B8"/>
                </a:solidFill>
                <a:latin typeface="Arial"/>
              </a:defRPr>
            </a:pPr>
            <a:r>
              <a:t>Bekele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240280"/>
            <a:ext cx="2560320" cy="859536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2350008"/>
            <a:ext cx="234086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7851B8"/>
                </a:solidFill>
                <a:latin typeface="Arial"/>
              </a:defRPr>
            </a:pPr>
            <a:r>
              <a:t>Abebe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56432" y="2679192"/>
            <a:ext cx="1225296" cy="0"/>
          </a:xfrm>
          <a:prstGeom prst="line">
            <a:avLst/>
          </a:prstGeom>
          <a:ln w="2794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97496" y="2679192"/>
            <a:ext cx="1197864" cy="0"/>
          </a:xfrm>
          <a:prstGeom prst="line">
            <a:avLst/>
          </a:prstGeom>
          <a:ln w="2794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4992" y="20116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7851B8"/>
                </a:solidFill>
                <a:latin typeface="Arial"/>
              </a:defRPr>
            </a:pPr>
            <a:r>
              <a:t>mentor • S06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20116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7851B8"/>
                </a:solidFill>
                <a:latin typeface="Arial"/>
              </a:defRPr>
            </a:pPr>
            <a:r>
              <a:t>mentor • S05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5" y="3630168"/>
            <a:ext cx="10067544" cy="8321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3831336"/>
            <a:ext cx="9738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52940"/>
                </a:solidFill>
                <a:latin typeface="Courier New"/>
              </a:defRPr>
            </a:pPr>
            <a:r>
              <a:t>mentor(x,y) ∧ mentor(y,z) → train(x,z)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3236976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4688" y="3278124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7851B8"/>
                </a:solidFill>
                <a:latin typeface="Arial"/>
              </a:defRPr>
            </a:pPr>
            <a:r>
              <a:t>RULE S09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82896"/>
            <a:ext cx="10149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7851B8"/>
                </a:solidFill>
                <a:latin typeface="Arial"/>
              </a:defRPr>
            </a:pPr>
            <a:r>
              <a:t>Two relation facts + one join rule → Genet can train Abebe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7877E"/>
                </a:solidFill>
                <a:latin typeface="Arial"/>
              </a:defRPr>
            </a:pPr>
            <a:r>
              <a:t>Depth = 1 + max(0, 0) = 1. Two graph edges do not imply two rule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EXAMPLE / MIXED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Mixed proofs connect relations to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bench-19: Can Meron lead a team?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Source: bench-19 • proof S01, S03, S06, S08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907792" cy="950976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2688336" cy="494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Meron mentors Dawit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755635"/>
            <a:ext cx="2724912" cy="285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S01 • given 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85615"/>
            <a:ext cx="2907792" cy="950976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95344"/>
            <a:ext cx="2688336" cy="494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Dawit mentors Rahel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346691"/>
            <a:ext cx="2724912" cy="285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S08 • given fact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0168" y="2697480"/>
            <a:ext cx="621792" cy="566928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630168" y="3529584"/>
            <a:ext cx="621792" cy="722376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70832" y="2761488"/>
            <a:ext cx="3054096" cy="1298448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871216"/>
            <a:ext cx="2834639" cy="805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7851B8"/>
                </a:solidFill>
                <a:latin typeface="Arial"/>
              </a:defRPr>
            </a:pPr>
            <a:r>
              <a:t>Meron can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7851B8"/>
                </a:solidFill>
                <a:latin typeface="Arial"/>
              </a:defRPr>
            </a:pPr>
            <a:r>
              <a:t>train Rahel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748308"/>
            <a:ext cx="2871215" cy="259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S03 • depth 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16368" y="3410712"/>
            <a:ext cx="576072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93024" y="2761488"/>
            <a:ext cx="3328416" cy="1298448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871216"/>
            <a:ext cx="3108960" cy="805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F65D5"/>
                </a:solidFill>
                <a:latin typeface="Arial"/>
              </a:defRPr>
            </a:pPr>
            <a:r>
              <a:t>Meron can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F65D5"/>
                </a:solidFill>
                <a:latin typeface="Arial"/>
              </a:defRPr>
            </a:pPr>
            <a:r>
              <a:t>lead a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748308"/>
            <a:ext cx="3145536" cy="259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S06 • depth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645152"/>
            <a:ext cx="71506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0">
                <a:solidFill>
                  <a:srgbClr val="152940"/>
                </a:solidFill>
                <a:latin typeface="Courier New"/>
              </a:defRPr>
            </a:pPr>
            <a:r>
              <a:t>train(x,y) → lead_team(x)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7877E"/>
                </a:solidFill>
                <a:latin typeface="Arial"/>
              </a:defRPr>
            </a:pPr>
            <a:r>
              <a:t>A binary conclusion becomes the premise of a unary rule. Minimum proof depth: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Depth follows the longest rule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bench-12: a branching proof for “Can Mulu seal a crate?”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Source: bench-12 • oracle depth 3 • six supporting sentences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76856"/>
            <a:ext cx="1892807" cy="923544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86584"/>
            <a:ext cx="1673351" cy="480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Sort parcel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821746"/>
            <a:ext cx="1709928" cy="277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S05 • depth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276856"/>
            <a:ext cx="1892807" cy="923544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2386584"/>
            <a:ext cx="1673351" cy="480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2F65D5"/>
                </a:solidFill>
                <a:latin typeface="Arial"/>
              </a:defRPr>
            </a:pPr>
            <a:r>
              <a:t>Check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21746"/>
            <a:ext cx="1709928" cy="277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S04 • depth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4104" y="2276856"/>
            <a:ext cx="1892807" cy="923544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13832" y="2386584"/>
            <a:ext cx="1673351" cy="480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2F65D5"/>
                </a:solidFill>
                <a:latin typeface="Arial"/>
              </a:defRPr>
            </a:pPr>
            <a:r>
              <a:t>Pack crate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5544" y="2821746"/>
            <a:ext cx="1709928" cy="277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S02 • depth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96896" y="2743200"/>
            <a:ext cx="329184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83480" y="2743200"/>
            <a:ext cx="320040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721608"/>
            <a:ext cx="1892807" cy="923544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31336"/>
            <a:ext cx="1673351" cy="480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Weave 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4266498"/>
            <a:ext cx="1709928" cy="277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S11 • depth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3721608"/>
            <a:ext cx="1892807" cy="923544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3831336"/>
            <a:ext cx="1673351" cy="480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2F65D5"/>
                </a:solidFill>
                <a:latin typeface="Arial"/>
              </a:defRPr>
            </a:pPr>
            <a:r>
              <a:t>Fold cloth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266498"/>
            <a:ext cx="1709928" cy="277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S06 • depth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96896" y="4187952"/>
            <a:ext cx="329184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06640" y="2770632"/>
            <a:ext cx="868680" cy="566928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038344" y="3538728"/>
            <a:ext cx="3236976" cy="649224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0" y="2889504"/>
            <a:ext cx="2935224" cy="1051560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7" y="2999232"/>
            <a:ext cx="2715768" cy="546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7851B8"/>
                </a:solidFill>
                <a:latin typeface="Arial"/>
              </a:defRPr>
            </a:pPr>
            <a:r>
              <a:t>Seal crate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509924"/>
            <a:ext cx="2752344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S03 • depth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4215384"/>
            <a:ext cx="34747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7851B8"/>
                </a:solidFill>
                <a:latin typeface="Arial"/>
              </a:defRPr>
            </a:pPr>
            <a:r>
              <a:t>1 + max(2, 1) =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5074920"/>
            <a:ext cx="1063447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Fact: 0    |    Rule use: 1 + max(premise depths)    |    Goal: min over all proofs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This proof has depth 3, four rule applications, and six source sentences.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Unsupported controls have null proof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The control's bucket is a matched experimental condition, not an existing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93976"/>
            <a:ext cx="3520440" cy="32644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85416"/>
            <a:ext cx="41148" cy="3081527"/>
          </a:xfrm>
          <a:prstGeom prst="rect">
            <a:avLst/>
          </a:prstGeom>
          <a:solidFill>
            <a:srgbClr val="BD4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315468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BD4E46"/>
                </a:solidFill>
                <a:latin typeface="Arial"/>
              </a:defRPr>
            </a:pPr>
            <a:r>
              <a:t>ACTUAL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3154680" cy="2258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Can Selam seal a crate?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No path from Selam's available facts proves the claim.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93976"/>
            <a:ext cx="3520440" cy="32644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85416"/>
            <a:ext cx="41148" cy="3081527"/>
          </a:xfrm>
          <a:prstGeom prst="rect">
            <a:avLst/>
          </a:prstGeom>
          <a:solidFill>
            <a:srgbClr val="785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58568"/>
            <a:ext cx="315468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7851B8"/>
                </a:solidFill>
                <a:latin typeface="Arial"/>
              </a:defRPr>
            </a:pPr>
            <a:r>
              <a:t>ORACLE ANNOTATION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71800"/>
            <a:ext cx="3154680" cy="2258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52940"/>
                </a:solidFill>
                <a:latin typeface="Arial"/>
              </a:defRPr>
            </a:pPr>
            <a:r>
              <a:t>label: NOT_ESTABLISHED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52940"/>
                </a:solidFill>
                <a:latin typeface="Arial"/>
              </a:defRPr>
            </a:pPr>
            <a:r>
              <a:t>depth: null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52940"/>
                </a:solidFill>
                <a:latin typeface="Arial"/>
              </a:defRPr>
            </a:pPr>
            <a:r>
              <a:t>depth_bucket: 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52940"/>
                </a:solidFill>
                <a:latin typeface="Arial"/>
              </a:defRPr>
            </a:pPr>
            <a:r>
              <a:t>Paired with Meron's depth-3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093976"/>
            <a:ext cx="3520440" cy="32644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2185416"/>
            <a:ext cx="41148" cy="3081527"/>
          </a:xfrm>
          <a:prstGeom prst="rect">
            <a:avLst/>
          </a:prstGeom>
          <a:solidFill>
            <a:srgbClr val="07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2258568"/>
            <a:ext cx="315468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07877E"/>
                </a:solidFill>
                <a:latin typeface="Arial"/>
              </a:defRPr>
            </a:pPr>
            <a:r>
              <a:t>REPAIR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971800"/>
            <a:ext cx="3154680" cy="2258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Temporarily add: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“Selam can sort a parcel.”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The control now has exact depth 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NOT_ESTABLISHED means the claim cannot be derived here. It does not assert its negation.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B5C7DA"/>
                </a:solidFill>
                <a:latin typeface="Arial"/>
              </a:defRPr>
            </a:pPr>
            <a:r>
              <a:t>RULE-CHAIN DEPTH  / 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The oracle is an independent symbolic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5C7DA"/>
                </a:solidFill>
                <a:latin typeface="Arial"/>
              </a:defRPr>
            </a:pPr>
            <a:r>
              <a:t>Two separately implemented solvers must agree before any model is called.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B5C7D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B5C7D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2340864" cy="1188720"/>
          </a:xfrm>
          <a:prstGeom prst="roundRect">
            <a:avLst>
              <a:gd name="adj" fmla="val 10000"/>
            </a:avLst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62656"/>
            <a:ext cx="2121408" cy="7370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Authored facts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and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756355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logical forms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072384" y="2615184"/>
            <a:ext cx="758952" cy="713232"/>
          </a:xfrm>
          <a:prstGeom prst="line">
            <a:avLst/>
          </a:prstGeom>
          <a:ln w="22860">
            <a:solidFill>
              <a:srgbClr val="B5C7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72384" y="3547872"/>
            <a:ext cx="758952" cy="896112"/>
          </a:xfrm>
          <a:prstGeom prst="line">
            <a:avLst/>
          </a:prstGeom>
          <a:ln w="22860">
            <a:solidFill>
              <a:srgbClr val="B5C7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41063" y="2121408"/>
            <a:ext cx="2971800" cy="996696"/>
          </a:xfrm>
          <a:prstGeom prst="roundRect">
            <a:avLst>
              <a:gd name="adj" fmla="val 10000"/>
            </a:avLst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2231136"/>
            <a:ext cx="2752344" cy="518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Forward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3" y="2709458"/>
            <a:ext cx="2788920" cy="299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derive from known facts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41063" y="3995928"/>
            <a:ext cx="2971800" cy="996696"/>
          </a:xfrm>
          <a:prstGeom prst="roundRect">
            <a:avLst>
              <a:gd name="adj" fmla="val 10000"/>
            </a:avLst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0791" y="4105656"/>
            <a:ext cx="2752344" cy="518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Backward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3" y="4583978"/>
            <a:ext cx="2788920" cy="299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reduce the target to premises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13448" y="2596896"/>
            <a:ext cx="786383" cy="722376"/>
          </a:xfrm>
          <a:prstGeom prst="line">
            <a:avLst/>
          </a:prstGeom>
          <a:ln w="22860">
            <a:solidFill>
              <a:srgbClr val="B5C7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013448" y="3602736"/>
            <a:ext cx="786383" cy="896112"/>
          </a:xfrm>
          <a:prstGeom prst="line">
            <a:avLst/>
          </a:prstGeom>
          <a:ln w="22860">
            <a:solidFill>
              <a:srgbClr val="B5C7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27848" y="2852928"/>
            <a:ext cx="3557016" cy="1188720"/>
          </a:xfrm>
          <a:prstGeom prst="roundRect">
            <a:avLst>
              <a:gd name="adj" fmla="val 10000"/>
            </a:avLst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2962656"/>
            <a:ext cx="3337560" cy="6181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Exact agreement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3554272"/>
            <a:ext cx="337413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depth + proof-source frontier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458968"/>
            <a:ext cx="106984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Cross-check authored annotations and invariants. Stop on any mismatch.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ORACLE /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Two routes to the same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bench-04: derive the goal from the facts, then verify it by searching back to those facts.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956816"/>
            <a:ext cx="2048256" cy="274320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9796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2F65D5"/>
                </a:solidFill>
                <a:latin typeface="Arial"/>
              </a:defRPr>
            </a:pPr>
            <a:r>
              <a:t>FORWARD / BOTTOM-UP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3675887"/>
            <a:ext cx="2121408" cy="274320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717035"/>
            <a:ext cx="19933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7851B8"/>
                </a:solidFill>
                <a:latin typeface="Arial"/>
              </a:defRPr>
            </a:pPr>
            <a:r>
              <a:t>BACKWARD / TOP-DOWN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432304"/>
            <a:ext cx="2249424" cy="896112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2029967" cy="465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sort(Meron)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61010"/>
            <a:ext cx="2066543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given S08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44952" y="2880360"/>
            <a:ext cx="374904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47872" y="2432304"/>
            <a:ext cx="2249424" cy="896112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542032"/>
            <a:ext cx="2029967" cy="465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check(Meron)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961010"/>
            <a:ext cx="2066543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apply S03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9592" y="2880360"/>
            <a:ext cx="374904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82512" y="2432304"/>
            <a:ext cx="2249424" cy="896112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42032"/>
            <a:ext cx="2029967" cy="465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pack(Meron)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61010"/>
            <a:ext cx="2066543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apply S01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2880360"/>
            <a:ext cx="374904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17152" y="2432304"/>
            <a:ext cx="2249424" cy="896112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542032"/>
            <a:ext cx="2029967" cy="465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seal(Meron)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2961010"/>
            <a:ext cx="2066543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apply S07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42232"/>
            <a:ext cx="2249424" cy="896112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51960"/>
            <a:ext cx="2029967" cy="465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seal(Meron)?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670938"/>
            <a:ext cx="2066543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match S07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44952" y="4590288"/>
            <a:ext cx="374904" cy="0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547872" y="4142232"/>
            <a:ext cx="2249424" cy="896112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251960"/>
            <a:ext cx="2029967" cy="465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pack(Meron)?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4670938"/>
            <a:ext cx="2066543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match S01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79592" y="4590288"/>
            <a:ext cx="374904" cy="0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82512" y="4142232"/>
            <a:ext cx="2249424" cy="896112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251960"/>
            <a:ext cx="2029967" cy="465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check(Meron)?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670938"/>
            <a:ext cx="2066543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match S03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714232" y="4590288"/>
            <a:ext cx="374904" cy="0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217152" y="4142232"/>
            <a:ext cx="2249424" cy="896112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4251960"/>
            <a:ext cx="2029967" cy="465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sort(Meron)?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4670938"/>
            <a:ext cx="2066543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fact S08 succeeds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07877E"/>
                </a:solidFill>
                <a:latin typeface="Arial"/>
              </a:defRPr>
            </a:pPr>
            <a:r>
              <a:t>Same result: SUPPORTED • depth 3 • source set {S01, S03, S07, S08}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SYSTEM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The systems differ in how they use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All three use matched LLM settings; the two baselines share exactly the same answer prompt.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920240"/>
            <a:ext cx="3493008" cy="274320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61388"/>
            <a:ext cx="33649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F65D5"/>
                </a:solidFill>
                <a:latin typeface="Arial"/>
              </a:defRPr>
            </a:pPr>
            <a:r>
              <a:t>NORMAL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386584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87168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Sentence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52344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Embed each sentence with nomic-embed-text.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328415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28999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Retrieve four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694176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Cosine ranking; one retrieval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270248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370832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LLM decides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636008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JSON label + cited sentence IDs.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1920240"/>
            <a:ext cx="3493008" cy="274320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1961388"/>
            <a:ext cx="33649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7877E"/>
                </a:solidFill>
                <a:latin typeface="Arial"/>
              </a:defRPr>
            </a:pPr>
            <a:r>
              <a:t>FULL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2386584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487168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Full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752344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Provide all 12 original sentences.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328415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3428999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Skip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3694176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No embedding calls or vector index.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4270248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370832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LLM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636008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Same baseline prompt and contract.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1920240"/>
            <a:ext cx="3493008" cy="274320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1961388"/>
            <a:ext cx="33649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7851B8"/>
                </a:solidFill>
                <a:latin typeface="Arial"/>
              </a:defRPr>
            </a:pPr>
            <a:r>
              <a:t>PLN-RAG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2386584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6" y="2487168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Learn the world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2752344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Parse English into PLN atoms.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2" y="3328415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6" y="3428999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Run the 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3694176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Parse, retrieve, and search for proof.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9872" y="4270248"/>
            <a:ext cx="349300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6176" y="4370832"/>
            <a:ext cx="32186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Proof label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4636008"/>
            <a:ext cx="3200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50" b="0">
                <a:solidFill>
                  <a:srgbClr val="152940"/>
                </a:solidFill>
                <a:latin typeface="Arial"/>
              </a:defRPr>
            </a:pPr>
            <a:r>
              <a:t>Proof payload decides support; errors take precedence.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Baseline labels come from the model. PLN-RAG labels come from its proof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The runner keeps answers outside the model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Validate the full selected dataset before taking a world-limit subset or making a model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39696"/>
            <a:ext cx="1938528" cy="1069848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249424"/>
            <a:ext cx="1719072" cy="55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F65D5"/>
                </a:solidFill>
                <a:latin typeface="Arial"/>
              </a:defRPr>
            </a:pPr>
            <a:r>
              <a:t>Freeze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70906"/>
            <a:ext cx="1755648" cy="320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worlds + annotations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2670048"/>
            <a:ext cx="201168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71216" y="2139696"/>
            <a:ext cx="1938528" cy="1069848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2249424"/>
            <a:ext cx="1719072" cy="55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F65D5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770906"/>
            <a:ext cx="1755648" cy="320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two oracle solvers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64608" y="2670048"/>
            <a:ext cx="201168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9784" y="2139696"/>
            <a:ext cx="1938528" cy="1069848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2249424"/>
            <a:ext cx="1719072" cy="55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F65D5"/>
                </a:solidFill>
                <a:latin typeface="Arial"/>
              </a:defRPr>
            </a:pPr>
            <a: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770906"/>
            <a:ext cx="1755648" cy="320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all worlds or prefix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23176" y="2670048"/>
            <a:ext cx="201168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88352" y="2139696"/>
            <a:ext cx="1938528" cy="1069848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2249424"/>
            <a:ext cx="1719072" cy="55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F65D5"/>
                </a:solidFill>
                <a:latin typeface="Arial"/>
              </a:defRPr>
            </a:pPr>
            <a: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770906"/>
            <a:ext cx="1755648" cy="320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selected systems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81744" y="2670048"/>
            <a:ext cx="201168" cy="0"/>
          </a:xfrm>
          <a:prstGeom prst="line">
            <a:avLst/>
          </a:prstGeom>
          <a:ln w="22860">
            <a:solidFill>
              <a:srgbClr val="2F65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2139696"/>
            <a:ext cx="1938528" cy="1069848"/>
          </a:xfrm>
          <a:prstGeom prst="roundRect">
            <a:avLst>
              <a:gd name="adj" fmla="val 10000"/>
            </a:avLst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8" y="2249424"/>
            <a:ext cx="1719072" cy="55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2F65D5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770906"/>
            <a:ext cx="1755648" cy="320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F65D5"/>
                </a:solidFill>
                <a:latin typeface="Arial"/>
              </a:defRPr>
            </a:pPr>
            <a:r>
              <a:t>labels + diagnostics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" y="3794760"/>
            <a:ext cx="5212080" cy="1600200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" y="3886200"/>
            <a:ext cx="41148" cy="1417320"/>
          </a:xfrm>
          <a:prstGeom prst="rect">
            <a:avLst/>
          </a:prstGeom>
          <a:solidFill>
            <a:srgbClr val="07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3959352"/>
            <a:ext cx="48463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PUBLIC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" y="4453128"/>
            <a:ext cx="484632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52940"/>
                </a:solidFill>
                <a:latin typeface="Arial"/>
              </a:defRPr>
            </a:pPr>
            <a:r>
              <a:t>Sentence IDs + English text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52940"/>
                </a:solidFill>
                <a:latin typeface="Arial"/>
              </a:defRPr>
            </a:pPr>
            <a:r>
              <a:t>Question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3794760"/>
            <a:ext cx="5422392" cy="1600200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35624" y="3886200"/>
            <a:ext cx="41148" cy="1417320"/>
          </a:xfrm>
          <a:prstGeom prst="rect">
            <a:avLst/>
          </a:prstGeom>
          <a:solidFill>
            <a:srgbClr val="785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3959352"/>
            <a:ext cx="505663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EVALUATION-ONLY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4" y="4453128"/>
            <a:ext cx="5056631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Expected label • depth • logical forms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Proof IDs • control repair fact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7877E"/>
                </a:solidFill>
                <a:latin typeface="Arial"/>
              </a:defRPr>
            </a:pPr>
            <a:r>
              <a:t>Annotations and oracle proof checks are attached only after the system answers.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RUNTIME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Isolation makes each question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The PLN world is learned once, then restored independently for each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432304"/>
            <a:ext cx="2423160" cy="1170432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2203704" cy="725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7851B8"/>
                </a:solidFill>
                <a:latin typeface="Arial"/>
              </a:defRPr>
            </a:pPr>
            <a:r>
              <a:t>Learn 12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7851B8"/>
                </a:solidFill>
                <a:latin typeface="Arial"/>
              </a:defRPr>
            </a:pPr>
            <a:r>
              <a:t>sentences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321832"/>
            <a:ext cx="2240279" cy="234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private world collection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2112" y="3008376"/>
            <a:ext cx="630936" cy="0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22776" y="2432304"/>
            <a:ext cx="2514600" cy="1170432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32504" y="2542032"/>
            <a:ext cx="2295144" cy="608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7851B8"/>
                </a:solidFill>
                <a:latin typeface="Arial"/>
              </a:defRPr>
            </a:pPr>
            <a:r>
              <a:t>Frozen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5" y="3122858"/>
            <a:ext cx="2331720" cy="351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851B8"/>
                </a:solidFill>
                <a:latin typeface="Arial"/>
              </a:defRPr>
            </a:pPr>
            <a:r>
              <a:t>hash-checked atom file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528816" y="2359152"/>
            <a:ext cx="731520" cy="530352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28816" y="3200400"/>
            <a:ext cx="731520" cy="886968"/>
          </a:xfrm>
          <a:prstGeom prst="line">
            <a:avLst/>
          </a:prstGeom>
          <a:ln w="22860">
            <a:solidFill>
              <a:srgbClr val="7851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1847088"/>
            <a:ext cx="3922776" cy="1024128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7223" y="1956816"/>
            <a:ext cx="3703320" cy="532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7877E"/>
                </a:solidFill>
                <a:latin typeface="Arial"/>
              </a:defRPr>
            </a:pPr>
            <a:r>
              <a:t>Supported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51323"/>
            <a:ext cx="3739896" cy="307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07877E"/>
                </a:solidFill>
                <a:latin typeface="Arial"/>
              </a:defRPr>
            </a:pPr>
            <a:r>
              <a:t>fresh process + restored 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3721608"/>
            <a:ext cx="3922776" cy="1024128"/>
          </a:xfrm>
          <a:prstGeom prst="roundRect">
            <a:avLst>
              <a:gd name="adj" fmla="val 10000"/>
            </a:avLst>
          </a:prstGeom>
          <a:solidFill>
            <a:srgbClr val="F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3" y="3831336"/>
            <a:ext cx="3703320" cy="532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BD4E46"/>
                </a:solidFill>
                <a:latin typeface="Arial"/>
              </a:defRPr>
            </a:pPr>
            <a:r>
              <a:t>Control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4325843"/>
            <a:ext cx="3739896" cy="307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D4E46"/>
                </a:solidFill>
                <a:latin typeface="Arial"/>
              </a:defRPr>
            </a:pPr>
            <a:r>
              <a:t>fresh process + restored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01768"/>
            <a:ext cx="10735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52940"/>
                </a:solidFill>
                <a:latin typeface="Arial"/>
              </a:defRPr>
            </a:pPr>
            <a:r>
              <a:t>Audit parsed atoms, restored snapshots, query mutations, and execution errors.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Matched model / provider / parameters • local embeddings • one shared request budget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RETRIEVAL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Top-four retrieval has a proof-capacity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Minimum source sentences needed by each of the 20 supported targets.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Computed from both oracle solvers • dataset composition, not live model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55657A"/>
                </a:solidFill>
                <a:latin typeface="Arial"/>
              </a:defRPr>
            </a:pPr>
            <a:r>
              <a:t>NUMBER OF SUPPORTED TARGETS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919472"/>
            <a:ext cx="5715000" cy="7315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809744"/>
            <a:ext cx="210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57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453128"/>
            <a:ext cx="5715000" cy="7315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343400"/>
            <a:ext cx="210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57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86783"/>
            <a:ext cx="5715000" cy="7315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877055"/>
            <a:ext cx="210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57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520439"/>
            <a:ext cx="5715000" cy="7315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410711"/>
            <a:ext cx="210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57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054096"/>
            <a:ext cx="5715000" cy="7315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944368"/>
            <a:ext cx="210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57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587752"/>
            <a:ext cx="5715000" cy="7315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478024"/>
            <a:ext cx="210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657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2587752"/>
            <a:ext cx="658368" cy="2331720"/>
          </a:xfrm>
          <a:prstGeom prst="rect">
            <a:avLst/>
          </a:prstGeom>
          <a:solidFill>
            <a:srgbClr val="2F6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249424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047488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5294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83664" y="3520439"/>
            <a:ext cx="658368" cy="1399032"/>
          </a:xfrm>
          <a:prstGeom prst="rect">
            <a:avLst/>
          </a:prstGeom>
          <a:solidFill>
            <a:srgbClr val="2F6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3664" y="3182111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3664" y="5047488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5294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054096"/>
            <a:ext cx="658368" cy="1865376"/>
          </a:xfrm>
          <a:prstGeom prst="rect">
            <a:avLst/>
          </a:prstGeom>
          <a:solidFill>
            <a:srgbClr val="2F6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715768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047488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5294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85616" y="2587752"/>
            <a:ext cx="658368" cy="2331720"/>
          </a:xfrm>
          <a:prstGeom prst="rect">
            <a:avLst/>
          </a:prstGeom>
          <a:solidFill>
            <a:srgbClr val="2F6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6" y="2249424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5616" y="5047488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5294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3986783"/>
            <a:ext cx="658368" cy="932688"/>
          </a:xfrm>
          <a:prstGeom prst="rect">
            <a:avLst/>
          </a:prstGeom>
          <a:solidFill>
            <a:srgbClr val="BD4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3648455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D4E4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5047488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5294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87568" y="4453128"/>
            <a:ext cx="658368" cy="466344"/>
          </a:xfrm>
          <a:prstGeom prst="rect">
            <a:avLst/>
          </a:prstGeom>
          <a:solidFill>
            <a:srgbClr val="BD4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87568" y="4114800"/>
            <a:ext cx="6583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D4E4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5047488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5294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9032" y="5495544"/>
            <a:ext cx="46817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57A"/>
                </a:solidFill>
                <a:latin typeface="Arial"/>
              </a:defRPr>
            </a:pPr>
            <a:r>
              <a:t>Minimum proof size (fact + rule sentences)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24344" y="2075688"/>
            <a:ext cx="4160520" cy="3182112"/>
          </a:xfrm>
          <a:prstGeom prst="roundRect">
            <a:avLst>
              <a:gd name="adj" fmla="val 10000"/>
            </a:avLst>
          </a:prstGeom>
          <a:solidFill>
            <a:srgbClr val="FCECE9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24344" y="2167128"/>
            <a:ext cx="41148" cy="2999232"/>
          </a:xfrm>
          <a:prstGeom prst="rect">
            <a:avLst/>
          </a:prstGeom>
          <a:solidFill>
            <a:srgbClr val="BD4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07223" y="2240280"/>
            <a:ext cx="3794759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BD4E46"/>
                </a:solidFill>
                <a:latin typeface="Arial"/>
              </a:defRPr>
            </a:pPr>
            <a:r>
              <a:t>3 / 20 supported targets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7223" y="2953512"/>
            <a:ext cx="3794759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need 5 or 6 source sentences.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A four-sentence context cannot contain a complete proof for these cases.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52944" y="5330952"/>
            <a:ext cx="3758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BD4E46"/>
                </a:solidFill>
                <a:latin typeface="Arial"/>
              </a:defRPr>
            </a:pPr>
            <a:r>
              <a:t>bench-12 • bench-16 • bench-20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Compare evidence sufficiency and full-context answers to diagnose the failure.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Score the label; diagnose the path to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Accuracy uses all selected questions, including errors and explicitly skipped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20824"/>
            <a:ext cx="4709160" cy="1097280"/>
          </a:xfrm>
          <a:prstGeom prst="roundRect">
            <a:avLst>
              <a:gd name="adj" fmla="val 10000"/>
            </a:avLst>
          </a:prstGeom>
          <a:solidFill>
            <a:srgbClr val="15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48840"/>
            <a:ext cx="429768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accuracy = correct labels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÷ all selected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01568"/>
            <a:ext cx="4709160" cy="1984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93008"/>
            <a:ext cx="41148" cy="1801368"/>
          </a:xfrm>
          <a:prstGeom prst="rect">
            <a:avLst/>
          </a:prstGeom>
          <a:solidFill>
            <a:srgbClr val="2F6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566160"/>
            <a:ext cx="434340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2F65D5"/>
                </a:solidFill>
                <a:latin typeface="Arial"/>
              </a:defRPr>
            </a:pPr>
            <a:r>
              <a:t>REPORT BOTH DEPTH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79392"/>
            <a:ext cx="4343400" cy="978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Bucketed: 10 questions per depth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Supported-only: 5 per exact depth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52940"/>
                </a:solidFill>
                <a:latin typeface="Arial"/>
              </a:defRPr>
            </a:pPr>
            <a:r>
              <a:t>Also group by rule type and label.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7568" y="2011680"/>
            <a:ext cx="5861304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2130552"/>
            <a:ext cx="18470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30552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52940"/>
                </a:solidFill>
                <a:latin typeface="Arial"/>
              </a:defRPr>
            </a:pPr>
            <a:r>
              <a:t>Did the shown subset contain any proof?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7568" y="3154680"/>
            <a:ext cx="5861304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3273552"/>
            <a:ext cx="18470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Translation /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273552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52940"/>
                </a:solidFill>
                <a:latin typeface="Arial"/>
              </a:defRPr>
            </a:pPr>
            <a:r>
              <a:t>Inspect parsed atoms, proof output, and full-context answers.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87568" y="4297680"/>
            <a:ext cx="5861304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0448" y="4416552"/>
            <a:ext cx="18470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BD4E46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416552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52940"/>
                </a:solidFill>
                <a:latin typeface="Arial"/>
              </a:defRPr>
            </a:pPr>
            <a:r>
              <a:t>Report API, parse, timeout, and budget errors explicitly.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ERROR is a failed execution outcome. It never becomes a correct NOT_ESTABLISHED answer.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READING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Every result has an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Start with the report, then trace a surprising answer to its exact input and raw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089964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130552"/>
            <a:ext cx="4178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report.md / summary.json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2071116"/>
            <a:ext cx="62087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52940"/>
                </a:solidFill>
                <a:latin typeface="Arial"/>
              </a:defRPr>
            </a:pPr>
            <a:r>
              <a:t>Overall and per-depth scores; errors; timing and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15768"/>
            <a:ext cx="1089964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834640"/>
            <a:ext cx="4178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records.json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775204"/>
            <a:ext cx="62087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52940"/>
                </a:solidFill>
                <a:latin typeface="Arial"/>
              </a:defRPr>
            </a:pPr>
            <a:r>
              <a:t>Question-level labels, expected labels, citations, and diagnostics.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19856"/>
            <a:ext cx="1089964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538728"/>
            <a:ext cx="4178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manifest.json / oracle.json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3479292"/>
            <a:ext cx="62087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52940"/>
                </a:solidFill>
                <a:latin typeface="Arial"/>
              </a:defRPr>
            </a:pPr>
            <a:r>
              <a:t>Configuration, source hashes, dataset identity, and reference answers.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23944"/>
            <a:ext cx="1089964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242816"/>
            <a:ext cx="4178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Per-question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4183380"/>
            <a:ext cx="62087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52940"/>
                </a:solidFill>
                <a:latin typeface="Arial"/>
              </a:defRPr>
            </a:pPr>
            <a:r>
              <a:t>Public input, chat request, response bytes, and raw model 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28032"/>
            <a:ext cx="1089964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4946904"/>
            <a:ext cx="4178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F65D5"/>
                </a:solidFill>
                <a:latin typeface="Arial"/>
              </a:defRPr>
            </a:pPr>
            <a:r>
              <a:t>PLN raw logs / learned atoms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4887468"/>
            <a:ext cx="62087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52940"/>
                </a:solidFill>
                <a:latin typeface="Arial"/>
              </a:defRPr>
            </a:pPr>
            <a:r>
              <a:t>Translation output, reasoner trace, provenance, and worker failures.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50" b="1">
                <a:solidFill>
                  <a:srgbClr val="07877E"/>
                </a:solidFill>
                <a:latin typeface="Arial"/>
              </a:defRPr>
            </a:pPr>
            <a:r>
              <a:t>COMPLETE means no execution errors. Missing measurements stay “unmeasured”.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SCOPE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Interpret it as a controlled diagnostic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The benchmark is designed to expose failure modes under known evidence and proof 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57400"/>
            <a:ext cx="5303520" cy="3209544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148840"/>
            <a:ext cx="41148" cy="3026663"/>
          </a:xfrm>
          <a:prstGeom prst="rect">
            <a:avLst/>
          </a:prstGeom>
          <a:solidFill>
            <a:srgbClr val="07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21992"/>
            <a:ext cx="4937759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07877E"/>
                </a:solidFill>
                <a:latin typeface="Arial"/>
              </a:defRPr>
            </a:pPr>
            <a:r>
              <a:t>WHAT IT CAN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35224"/>
            <a:ext cx="4937759" cy="2203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  <a:r>
              <a:t>Outcomes by exact proof depth.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  <a:r>
              <a:t>Evidence sufficiency.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  <a:r>
              <a:t>Translation and execution failures.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057400"/>
            <a:ext cx="5376672" cy="3209544"/>
          </a:xfrm>
          <a:prstGeom prst="roundRect">
            <a:avLst>
              <a:gd name="adj" fmla="val 10000"/>
            </a:avLst>
          </a:prstGeom>
          <a:solidFill>
            <a:srgbClr val="FFF1DC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2148840"/>
            <a:ext cx="41148" cy="3026663"/>
          </a:xfrm>
          <a:prstGeom prst="rect">
            <a:avLst/>
          </a:prstGeom>
          <a:solidFill>
            <a:srgbClr val="A65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221992"/>
            <a:ext cx="5010912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A65F16"/>
                </a:solidFill>
                <a:latin typeface="Arial"/>
              </a:defRPr>
            </a:pPr>
            <a:r>
              <a:t>WHAT LIMITS GENERALIZATION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935224"/>
            <a:ext cx="5010912" cy="2203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20 paired worlds and repeated templates.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Restricted positive Horn language.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152940"/>
                </a:solidFill>
                <a:latin typeface="Arial"/>
              </a:defRPr>
            </a:pPr>
            <a:r>
              <a:t>Depth, proof size, and rule kind can co-vary.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7877E"/>
                </a:solidFill>
                <a:latin typeface="Arial"/>
              </a:defRPr>
            </a:pPr>
            <a:r>
              <a:t>Paired questions and repeated templates make Wilson intervals descriptive.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B5C7DA"/>
                </a:solidFill>
                <a:latin typeface="Arial"/>
              </a:defRPr>
            </a:pPr>
            <a:r>
              <a:t>RULE-CHAIN DEPTH  / 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Three questions make the comparison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1D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B5C7D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B5C7DA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93391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B5C7D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1965960"/>
            <a:ext cx="9509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What should follow?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2505456"/>
            <a:ext cx="9601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B5C7DA"/>
                </a:solidFill>
                <a:latin typeface="Arial"/>
              </a:defRPr>
            </a:pPr>
            <a:r>
              <a:t>Two symbolic solvers validate the label,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B5C7DA"/>
                </a:solidFill>
                <a:latin typeface="Arial"/>
              </a:defRPr>
            </a:pPr>
            <a:r>
              <a:t>minimum depth, and proof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355847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B5C7D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3328415"/>
            <a:ext cx="9509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What evidence did the system use?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3867911"/>
            <a:ext cx="9601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B5C7DA"/>
                </a:solidFill>
                <a:latin typeface="Arial"/>
              </a:defRPr>
            </a:pPr>
            <a:r>
              <a:t>Retrieval and full context expose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B5C7DA"/>
                </a:solidFill>
                <a:latin typeface="Arial"/>
              </a:defRPr>
            </a:pPr>
            <a:r>
              <a:t>whether a complete proof was 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4718304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B5C7D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4690872"/>
            <a:ext cx="9509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Why did this outcome occur?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5230368"/>
            <a:ext cx="96012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B5C7DA"/>
                </a:solidFill>
                <a:latin typeface="Arial"/>
              </a:defRPr>
            </a:pPr>
            <a:r>
              <a:t>Trace labels through translation, inference,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100" b="0">
                <a:solidFill>
                  <a:srgbClr val="B5C7DA"/>
                </a:solidFill>
                <a:latin typeface="Arial"/>
              </a:defRPr>
            </a:pPr>
            <a:r>
              <a:t>request limits, and raw execution records.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APPENDIX /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Reference: run the same experiment from either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Preparation validates and saves a plan without model or embedding calls.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039112"/>
            <a:ext cx="67939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2130552"/>
            <a:ext cx="41148" cy="1188720"/>
          </a:xfrm>
          <a:prstGeom prst="rect">
            <a:avLst/>
          </a:prstGeom>
          <a:solidFill>
            <a:srgbClr val="2F6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03704"/>
            <a:ext cx="642823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2F65D5"/>
                </a:solidFill>
                <a:latin typeface="Arial"/>
              </a:defRPr>
            </a:pPr>
            <a:r>
              <a:t>FROM RULE-CHAIN-DEPTH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97480"/>
            <a:ext cx="64282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52940"/>
                </a:solidFill>
                <a:latin typeface="Arial"/>
              </a:defRPr>
            </a:pPr>
            <a:r>
              <a:t>python3 -m b1 benchmark \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52940"/>
                </a:solidFill>
                <a:latin typeface="Arial"/>
              </a:defRPr>
            </a:pPr>
            <a:r>
              <a:t>  --systems rag full_context --prepare-only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675887"/>
            <a:ext cx="67939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3767327"/>
            <a:ext cx="41148" cy="1188720"/>
          </a:xfrm>
          <a:prstGeom prst="rect">
            <a:avLst/>
          </a:prstGeom>
          <a:solidFill>
            <a:srgbClr val="07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840479"/>
            <a:ext cx="642823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7877E"/>
                </a:solidFill>
                <a:latin typeface="Arial"/>
              </a:defRPr>
            </a:pPr>
            <a:r>
              <a:t>FROM NORMAL-RAG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334255"/>
            <a:ext cx="64282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52940"/>
                </a:solidFill>
                <a:latin typeface="Arial"/>
              </a:defRPr>
            </a:pPr>
            <a:r>
              <a:t>python3 -m normal_rag benchmark --prepare-only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2039112"/>
            <a:ext cx="3877056" cy="2999232"/>
          </a:xfrm>
          <a:prstGeom prst="roundRect">
            <a:avLst>
              <a:gd name="adj" fmla="val 10000"/>
            </a:avLst>
          </a:prstGeom>
          <a:solidFill>
            <a:srgbClr val="F0EAF8"/>
          </a:solidFill>
          <a:ln w="1143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62672" y="2130552"/>
            <a:ext cx="41148" cy="2816351"/>
          </a:xfrm>
          <a:prstGeom prst="rect">
            <a:avLst/>
          </a:prstGeom>
          <a:solidFill>
            <a:srgbClr val="785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203704"/>
            <a:ext cx="351129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7851B8"/>
                </a:solidFill>
                <a:latin typeface="Arial"/>
              </a:defRPr>
            </a:pPr>
            <a:r>
              <a:t>REQUEST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916936"/>
            <a:ext cx="3511296" cy="1993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  <a:r>
              <a:t>40  normal RAG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  <a:r>
              <a:t>40  full context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  <a:r>
              <a:t>≈300  PLN-RAG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52940"/>
                </a:solidFill>
                <a:latin typeface="Arial"/>
              </a:defRPr>
            </a:pPr>
            <a:r>
              <a:t>≈380 chat calls total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50" b="1">
                <a:solidFill>
                  <a:srgbClr val="07877E"/>
                </a:solidFill>
                <a:latin typeface="Arial"/>
              </a:defRPr>
            </a:pPr>
            <a:r>
              <a:t>Both CLIs use shared settings and artifacts. The request cap stays in force.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APPENDIX / FULL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Reference: all twelve sentences in bench-04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Original order and exact English. Highlighted rows form the supported target's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Source: data/benchmark/worlds.json • bench-04 • shuffle seed 4004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02536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48840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7877E"/>
                </a:solidFill>
                <a:latin typeface="Arial"/>
              </a:defRPr>
            </a:pPr>
            <a:r>
              <a:t>S01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071116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07877E"/>
                </a:solidFill>
                <a:latin typeface="Arial"/>
              </a:defRPr>
            </a:pPr>
            <a:r>
              <a:t>Everyone who can check a label can pack a crate.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606040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52344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57A"/>
                </a:solidFill>
                <a:latin typeface="Arial"/>
              </a:defRPr>
            </a:pPr>
            <a:r>
              <a:t>S02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674620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55657A"/>
                </a:solidFill>
                <a:latin typeface="Arial"/>
              </a:defRPr>
            </a:pPr>
            <a:r>
              <a:t>Selam can paint a 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09544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355848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7877E"/>
                </a:solidFill>
                <a:latin typeface="Arial"/>
              </a:defRPr>
            </a:pPr>
            <a:r>
              <a:t>S03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278124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07877E"/>
                </a:solidFill>
                <a:latin typeface="Arial"/>
              </a:defRPr>
            </a:pPr>
            <a:r>
              <a:t>Everyone who can sort a parcel can check a label.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813048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959352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57A"/>
                </a:solidFill>
                <a:latin typeface="Arial"/>
              </a:defRPr>
            </a:pPr>
            <a:r>
              <a:t>S04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881628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55657A"/>
                </a:solidFill>
                <a:latin typeface="Arial"/>
              </a:defRPr>
            </a:pPr>
            <a:r>
              <a:t>Dawit can weave a mat.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416552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562856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57A"/>
                </a:solidFill>
                <a:latin typeface="Arial"/>
              </a:defRPr>
            </a:pPr>
            <a:r>
              <a:t>S05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485132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55657A"/>
                </a:solidFill>
                <a:latin typeface="Arial"/>
              </a:defRPr>
            </a:pPr>
            <a:r>
              <a:t>Lemma can carry a drum.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5020056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166360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57A"/>
                </a:solidFill>
                <a:latin typeface="Arial"/>
              </a:defRPr>
            </a:pPr>
            <a:r>
              <a:t>S06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5088636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55657A"/>
                </a:solidFill>
                <a:latin typeface="Arial"/>
              </a:defRPr>
            </a:pPr>
            <a:r>
              <a:t>Everyone who can make tea can bake bread.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1" y="2002536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1" y="2148840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7877E"/>
                </a:solidFill>
                <a:latin typeface="Arial"/>
              </a:defRPr>
            </a:pPr>
            <a:r>
              <a:t>S07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7" y="2071116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07877E"/>
                </a:solidFill>
                <a:latin typeface="Arial"/>
              </a:defRPr>
            </a:pPr>
            <a:r>
              <a:t>Everyone who can pack a crate can seal a crate.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1" y="2606040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1" y="2752344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7877E"/>
                </a:solidFill>
                <a:latin typeface="Arial"/>
              </a:defRPr>
            </a:pPr>
            <a:r>
              <a:t>S08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7" y="2674620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07877E"/>
                </a:solidFill>
                <a:latin typeface="Arial"/>
              </a:defRPr>
            </a:pPr>
            <a:r>
              <a:t>Meron can sort a parcel.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1" y="3209544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1" y="3355848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57A"/>
                </a:solidFill>
                <a:latin typeface="Arial"/>
              </a:defRPr>
            </a:pPr>
            <a:r>
              <a:t>S09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7" y="3278124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55657A"/>
                </a:solidFill>
                <a:latin typeface="Arial"/>
              </a:defRPr>
            </a:pPr>
            <a:r>
              <a:t>Kebede can make tea.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1" y="3813048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1" y="3959352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57A"/>
                </a:solidFill>
                <a:latin typeface="Arial"/>
              </a:defRPr>
            </a:pPr>
            <a:r>
              <a:t>S10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7" y="3881628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55657A"/>
                </a:solidFill>
                <a:latin typeface="Arial"/>
              </a:defRPr>
            </a:pPr>
            <a:r>
              <a:t>Rahel can fold a cloth.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4416552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1" y="4562856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57A"/>
                </a:solidFill>
                <a:latin typeface="Arial"/>
              </a:defRPr>
            </a:pPr>
            <a:r>
              <a:t>S11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7" y="4485132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55657A"/>
                </a:solidFill>
                <a:latin typeface="Arial"/>
              </a:defRPr>
            </a:pPr>
            <a:r>
              <a:t>Everyone who can paint a gate can clean a bench.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1" y="5020056"/>
            <a:ext cx="542239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1" y="5166360"/>
            <a:ext cx="429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55657A"/>
                </a:solidFill>
                <a:latin typeface="Arial"/>
              </a:defRPr>
            </a:pPr>
            <a:r>
              <a:t>S12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7" y="5088636"/>
            <a:ext cx="46177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50" b="0">
                <a:solidFill>
                  <a:srgbClr val="55657A"/>
                </a:solidFill>
                <a:latin typeface="Arial"/>
              </a:defRPr>
            </a:pPr>
            <a:r>
              <a:t>Everyone who can carry a drum can light a lamp.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07877E"/>
                </a:solidFill>
                <a:latin typeface="Arial"/>
              </a:defRPr>
            </a:pPr>
            <a:r>
              <a:t>Targets: “Can Meron seal a crate?”  /  “Can Selam seal a crate?”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07877E"/>
                </a:solidFill>
                <a:latin typeface="Arial"/>
              </a:defRPr>
            </a:pPr>
            <a:r>
              <a:t>RULE-CHAIN DEPTH  /  APPENDIX /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152940"/>
                </a:solidFill>
                <a:latin typeface="Arial"/>
              </a:defRPr>
            </a:pPr>
            <a:r>
              <a:t>Reference: oracle fields and implementation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55657A"/>
                </a:solidFill>
                <a:latin typeface="Arial"/>
              </a:defRPr>
            </a:pPr>
            <a:r>
              <a:t>The oracle record describes logical ground truth. It is not a model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28232"/>
            <a:ext cx="11128248" cy="10972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55657A"/>
                </a:solidFill>
                <a:latin typeface="Arial"/>
              </a:defRPr>
            </a:pPr>
            <a:r>
              <a:t>Implemented benchmark • examples from the frozen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55657A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66543"/>
            <a:ext cx="5641848" cy="3429000"/>
          </a:xfrm>
          <a:prstGeom prst="roundRect">
            <a:avLst>
              <a:gd name="adj" fmla="val 10000"/>
            </a:avLst>
          </a:prstGeom>
          <a:solidFill>
            <a:srgbClr val="15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76856"/>
            <a:ext cx="5230368" cy="302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"question_id": "bench-04-supported",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"label": "SUPPORTED",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"depth": 3,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"depth_bucket": 3,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"rule_kind": "chain",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"minimum_depth_proofs": [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  ["S01", "S03", "S07", "S08"]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084831"/>
            <a:ext cx="4764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F65D5"/>
                </a:solidFill>
                <a:latin typeface="Arial"/>
              </a:defRPr>
            </a:pPr>
            <a:r>
              <a:t>b1/dataset.py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350008"/>
            <a:ext cx="4764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57A"/>
                </a:solidFill>
                <a:latin typeface="Arial"/>
              </a:defRPr>
            </a:pPr>
            <a:r>
              <a:t>authors and balances the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670048"/>
            <a:ext cx="4764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F65D5"/>
                </a:solidFill>
                <a:latin typeface="Arial"/>
              </a:defRPr>
            </a:pPr>
            <a:r>
              <a:t>b1/oracle.py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935224"/>
            <a:ext cx="4764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57A"/>
                </a:solidFill>
                <a:latin typeface="Arial"/>
              </a:defRPr>
            </a:pPr>
            <a:r>
              <a:t>validates and cross-checks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255263"/>
            <a:ext cx="4764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F65D5"/>
                </a:solidFill>
                <a:latin typeface="Arial"/>
              </a:defRPr>
            </a:pPr>
            <a:r>
              <a:t>b1/forward.py / backward.py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520439"/>
            <a:ext cx="4764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57A"/>
                </a:solidFill>
                <a:latin typeface="Arial"/>
              </a:defRPr>
            </a:pPr>
            <a:r>
              <a:t>independent proof searches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3840479"/>
            <a:ext cx="4764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F65D5"/>
                </a:solidFill>
                <a:latin typeface="Arial"/>
              </a:defRPr>
            </a:pPr>
            <a:r>
              <a:t>b1/comparison.py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4105655"/>
            <a:ext cx="4764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57A"/>
                </a:solidFill>
                <a:latin typeface="Arial"/>
              </a:defRPr>
            </a:pPr>
            <a:r>
              <a:t>runs systems and computes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425696"/>
            <a:ext cx="4764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F65D5"/>
                </a:solidFill>
                <a:latin typeface="Arial"/>
              </a:defRPr>
            </a:pPr>
            <a:r>
              <a:t>b1/pln_worker.py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4690872"/>
            <a:ext cx="4764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57A"/>
                </a:solidFill>
                <a:latin typeface="Arial"/>
              </a:defRPr>
            </a:pPr>
            <a:r>
              <a:t>isolates PLN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5010912"/>
            <a:ext cx="4764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F65D5"/>
                </a:solidFill>
                <a:latin typeface="Arial"/>
              </a:defRPr>
            </a:pPr>
            <a:r>
              <a:t>normal_rag/core.py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5276088"/>
            <a:ext cx="476402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55657A"/>
                </a:solidFill>
                <a:latin typeface="Arial"/>
              </a:defRPr>
            </a:pPr>
            <a:r>
              <a:t>retrieval and full-context baselines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05856"/>
            <a:ext cx="11064240" cy="521207"/>
          </a:xfrm>
          <a:prstGeom prst="roundRect">
            <a:avLst>
              <a:gd name="adj" fmla="val 10000"/>
            </a:avLst>
          </a:prstGeom>
          <a:solidFill>
            <a:srgbClr val="E4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155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7877E"/>
                </a:solidFill>
                <a:latin typeface="Arial"/>
              </a:defRPr>
            </a:pPr>
            <a:r>
              <a:t>The generated source manifest records the dataset fingerprint and source-file hashes.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Rule-chain depth: how the 40-question benchmark works</dc:title>
  <dc:subject>Dataset, proof depth, symbolic oracle, RAG comparison, and evaluation</dc:subject>
  <dc:creator>Rule-chain-depth project</dc:creator>
  <cp:keywords>RAG, PLN-RAG, oracle, Horn rules, proof depth, benchmark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